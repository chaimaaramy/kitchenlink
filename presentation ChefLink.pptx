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Times New Roman" charset="1" panose="02020603050405020304"/>
      <p:regular r:id="rId25"/>
    </p:embeddedFont>
    <p:embeddedFont>
      <p:font typeface="Open Sans Bold" charset="1" panose="020B0806030504020204"/>
      <p:regular r:id="rId26"/>
    </p:embeddedFont>
    <p:embeddedFont>
      <p:font typeface="Garet Ultra-Bold" charset="1" panose="00000000000000000000"/>
      <p:regular r:id="rId27"/>
    </p:embeddedFont>
    <p:embeddedFont>
      <p:font typeface="Garet Light" charset="1" panose="00000000000000000000"/>
      <p:regular r:id="rId28"/>
    </p:embeddedFont>
    <p:embeddedFont>
      <p:font typeface="Times New Roman Bold" charset="1" panose="020208030705050203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14" Target="../media/image29.png" Type="http://schemas.openxmlformats.org/officeDocument/2006/relationships/image"/><Relationship Id="rId15" Target="../media/image30.svg" Type="http://schemas.openxmlformats.org/officeDocument/2006/relationships/image"/><Relationship Id="rId16" Target="../media/image31.png" Type="http://schemas.openxmlformats.org/officeDocument/2006/relationships/image"/><Relationship Id="rId17" Target="../media/image32.svg" Type="http://schemas.openxmlformats.org/officeDocument/2006/relationships/image"/><Relationship Id="rId18" Target="../media/image33.png" Type="http://schemas.openxmlformats.org/officeDocument/2006/relationships/image"/><Relationship Id="rId19" Target="../media/image34.sv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481743">
            <a:off x="17001360" y="2360135"/>
            <a:ext cx="2225716" cy="4698081"/>
          </a:xfrm>
          <a:custGeom>
            <a:avLst/>
            <a:gdLst/>
            <a:ahLst/>
            <a:cxnLst/>
            <a:rect r="r" b="b" t="t" l="l"/>
            <a:pathLst>
              <a:path h="4698081" w="2225716">
                <a:moveTo>
                  <a:pt x="2225716" y="0"/>
                </a:moveTo>
                <a:lnTo>
                  <a:pt x="0" y="0"/>
                </a:lnTo>
                <a:lnTo>
                  <a:pt x="0" y="4698081"/>
                </a:lnTo>
                <a:lnTo>
                  <a:pt x="2225716" y="4698081"/>
                </a:lnTo>
                <a:lnTo>
                  <a:pt x="2225716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441533">
            <a:off x="-795761" y="8647963"/>
            <a:ext cx="2921521" cy="4015836"/>
          </a:xfrm>
          <a:custGeom>
            <a:avLst/>
            <a:gdLst/>
            <a:ahLst/>
            <a:cxnLst/>
            <a:rect r="r" b="b" t="t" l="l"/>
            <a:pathLst>
              <a:path h="4015836" w="2921521">
                <a:moveTo>
                  <a:pt x="0" y="0"/>
                </a:moveTo>
                <a:lnTo>
                  <a:pt x="2921521" y="0"/>
                </a:lnTo>
                <a:lnTo>
                  <a:pt x="2921521" y="4015836"/>
                </a:lnTo>
                <a:lnTo>
                  <a:pt x="0" y="4015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1915994">
            <a:off x="-710812" y="-575849"/>
            <a:ext cx="1607860" cy="3393900"/>
          </a:xfrm>
          <a:custGeom>
            <a:avLst/>
            <a:gdLst/>
            <a:ahLst/>
            <a:cxnLst/>
            <a:rect r="r" b="b" t="t" l="l"/>
            <a:pathLst>
              <a:path h="3393900" w="1607860">
                <a:moveTo>
                  <a:pt x="1607860" y="0"/>
                </a:moveTo>
                <a:lnTo>
                  <a:pt x="0" y="0"/>
                </a:lnTo>
                <a:lnTo>
                  <a:pt x="0" y="3393900"/>
                </a:lnTo>
                <a:lnTo>
                  <a:pt x="1607860" y="3393900"/>
                </a:lnTo>
                <a:lnTo>
                  <a:pt x="160786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654147" y="2868339"/>
            <a:ext cx="8979705" cy="117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5"/>
              </a:lnSpc>
            </a:pPr>
            <a:r>
              <a:rPr lang="en-US" sz="4599" spc="-234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ChefLink : Réseau social professionnel dédié aux chefs de cuisine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213491" y="5637470"/>
            <a:ext cx="1192130" cy="1192130"/>
          </a:xfrm>
          <a:custGeom>
            <a:avLst/>
            <a:gdLst/>
            <a:ahLst/>
            <a:cxnLst/>
            <a:rect r="r" b="b" t="t" l="l"/>
            <a:pathLst>
              <a:path h="1192130" w="1192130">
                <a:moveTo>
                  <a:pt x="0" y="0"/>
                </a:moveTo>
                <a:lnTo>
                  <a:pt x="1192130" y="0"/>
                </a:lnTo>
                <a:lnTo>
                  <a:pt x="1192130" y="1192130"/>
                </a:lnTo>
                <a:lnTo>
                  <a:pt x="0" y="1192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64999" y="3730731"/>
            <a:ext cx="844561" cy="844561"/>
          </a:xfrm>
          <a:custGeom>
            <a:avLst/>
            <a:gdLst/>
            <a:ahLst/>
            <a:cxnLst/>
            <a:rect r="r" b="b" t="t" l="l"/>
            <a:pathLst>
              <a:path h="844561" w="844561">
                <a:moveTo>
                  <a:pt x="0" y="0"/>
                </a:moveTo>
                <a:lnTo>
                  <a:pt x="844562" y="0"/>
                </a:lnTo>
                <a:lnTo>
                  <a:pt x="844562" y="844561"/>
                </a:lnTo>
                <a:lnTo>
                  <a:pt x="0" y="844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784852" y="-744264"/>
            <a:ext cx="7598418" cy="3545928"/>
          </a:xfrm>
          <a:custGeom>
            <a:avLst/>
            <a:gdLst/>
            <a:ahLst/>
            <a:cxnLst/>
            <a:rect r="r" b="b" t="t" l="l"/>
            <a:pathLst>
              <a:path h="3545928" w="7598418">
                <a:moveTo>
                  <a:pt x="0" y="0"/>
                </a:moveTo>
                <a:lnTo>
                  <a:pt x="7598418" y="0"/>
                </a:lnTo>
                <a:lnTo>
                  <a:pt x="7598418" y="3545928"/>
                </a:lnTo>
                <a:lnTo>
                  <a:pt x="0" y="35459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0" y="7567723"/>
            <a:ext cx="4862810" cy="1863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Realiser par : Jamai Zaineb</a:t>
            </a:r>
          </a:p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Elouatiki Hafsa </a:t>
            </a:r>
          </a:p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Rami Chaimaa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1441533">
            <a:off x="17922509" y="9333172"/>
            <a:ext cx="2921521" cy="4015836"/>
          </a:xfrm>
          <a:custGeom>
            <a:avLst/>
            <a:gdLst/>
            <a:ahLst/>
            <a:cxnLst/>
            <a:rect r="r" b="b" t="t" l="l"/>
            <a:pathLst>
              <a:path h="4015836" w="2921521">
                <a:moveTo>
                  <a:pt x="0" y="0"/>
                </a:moveTo>
                <a:lnTo>
                  <a:pt x="2921521" y="0"/>
                </a:lnTo>
                <a:lnTo>
                  <a:pt x="2921521" y="4015836"/>
                </a:lnTo>
                <a:lnTo>
                  <a:pt x="0" y="4015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857434" y="7213072"/>
            <a:ext cx="6430566" cy="2482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Éq</a:t>
            </a:r>
            <a:r>
              <a:rPr lang="en-US" sz="3500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uipe Encadrante:Mme Benyahya </a:t>
            </a:r>
          </a:p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Mme Boussmar Khadija</a:t>
            </a:r>
          </a:p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Mme Naji Zaineb</a:t>
            </a:r>
          </a:p>
          <a:p>
            <a:pPr algn="ctr">
              <a:lnSpc>
                <a:spcPts val="490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7191012" y="9593260"/>
            <a:ext cx="245939" cy="58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8"/>
              </a:lnSpc>
            </a:pPr>
            <a:r>
              <a:rPr lang="en-US" sz="3391" b="true">
                <a:solidFill>
                  <a:srgbClr val="3744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915994">
            <a:off x="-710812" y="-668250"/>
            <a:ext cx="1607860" cy="3393900"/>
          </a:xfrm>
          <a:custGeom>
            <a:avLst/>
            <a:gdLst/>
            <a:ahLst/>
            <a:cxnLst/>
            <a:rect r="r" b="b" t="t" l="l"/>
            <a:pathLst>
              <a:path h="3393900" w="1607860">
                <a:moveTo>
                  <a:pt x="1607860" y="0"/>
                </a:moveTo>
                <a:lnTo>
                  <a:pt x="0" y="0"/>
                </a:lnTo>
                <a:lnTo>
                  <a:pt x="0" y="3393900"/>
                </a:lnTo>
                <a:lnTo>
                  <a:pt x="1607860" y="3393900"/>
                </a:lnTo>
                <a:lnTo>
                  <a:pt x="160786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481743">
            <a:off x="17731709" y="8529329"/>
            <a:ext cx="1822754" cy="3847503"/>
          </a:xfrm>
          <a:custGeom>
            <a:avLst/>
            <a:gdLst/>
            <a:ahLst/>
            <a:cxnLst/>
            <a:rect r="r" b="b" t="t" l="l"/>
            <a:pathLst>
              <a:path h="3847503" w="1822754">
                <a:moveTo>
                  <a:pt x="1822754" y="0"/>
                </a:moveTo>
                <a:lnTo>
                  <a:pt x="0" y="0"/>
                </a:lnTo>
                <a:lnTo>
                  <a:pt x="0" y="3847503"/>
                </a:lnTo>
                <a:lnTo>
                  <a:pt x="1822754" y="3847503"/>
                </a:lnTo>
                <a:lnTo>
                  <a:pt x="1822754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441533">
            <a:off x="-795761" y="8745286"/>
            <a:ext cx="2921521" cy="4015836"/>
          </a:xfrm>
          <a:custGeom>
            <a:avLst/>
            <a:gdLst/>
            <a:ahLst/>
            <a:cxnLst/>
            <a:rect r="r" b="b" t="t" l="l"/>
            <a:pathLst>
              <a:path h="4015836" w="2921521">
                <a:moveTo>
                  <a:pt x="0" y="0"/>
                </a:moveTo>
                <a:lnTo>
                  <a:pt x="2921521" y="0"/>
                </a:lnTo>
                <a:lnTo>
                  <a:pt x="2921521" y="4015836"/>
                </a:lnTo>
                <a:lnTo>
                  <a:pt x="0" y="4015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433120" y="7902224"/>
            <a:ext cx="844561" cy="844561"/>
          </a:xfrm>
          <a:custGeom>
            <a:avLst/>
            <a:gdLst/>
            <a:ahLst/>
            <a:cxnLst/>
            <a:rect r="r" b="b" t="t" l="l"/>
            <a:pathLst>
              <a:path h="844561" w="844561">
                <a:moveTo>
                  <a:pt x="0" y="0"/>
                </a:moveTo>
                <a:lnTo>
                  <a:pt x="844562" y="0"/>
                </a:lnTo>
                <a:lnTo>
                  <a:pt x="844562" y="844561"/>
                </a:lnTo>
                <a:lnTo>
                  <a:pt x="0" y="844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118" y="-253666"/>
            <a:ext cx="18265984" cy="9758752"/>
          </a:xfrm>
          <a:custGeom>
            <a:avLst/>
            <a:gdLst/>
            <a:ahLst/>
            <a:cxnLst/>
            <a:rect r="r" b="b" t="t" l="l"/>
            <a:pathLst>
              <a:path h="9758752" w="18265984">
                <a:moveTo>
                  <a:pt x="0" y="0"/>
                </a:moveTo>
                <a:lnTo>
                  <a:pt x="18265984" y="0"/>
                </a:lnTo>
                <a:lnTo>
                  <a:pt x="18265984" y="9758751"/>
                </a:lnTo>
                <a:lnTo>
                  <a:pt x="0" y="97587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8012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915423" y="1239382"/>
            <a:ext cx="7613452" cy="62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5"/>
              </a:lnSpc>
            </a:pPr>
            <a:r>
              <a:rPr lang="en-US" sz="4599" spc="-234" u="sng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604616" y="9409835"/>
            <a:ext cx="813411" cy="625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888319">
            <a:off x="-818892" y="-1696950"/>
            <a:ext cx="1607860" cy="3393900"/>
          </a:xfrm>
          <a:custGeom>
            <a:avLst/>
            <a:gdLst/>
            <a:ahLst/>
            <a:cxnLst/>
            <a:rect r="r" b="b" t="t" l="l"/>
            <a:pathLst>
              <a:path h="3393900" w="1607860">
                <a:moveTo>
                  <a:pt x="1607860" y="0"/>
                </a:moveTo>
                <a:lnTo>
                  <a:pt x="0" y="0"/>
                </a:lnTo>
                <a:lnTo>
                  <a:pt x="0" y="3393900"/>
                </a:lnTo>
                <a:lnTo>
                  <a:pt x="1607860" y="3393900"/>
                </a:lnTo>
                <a:lnTo>
                  <a:pt x="160786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481743">
            <a:off x="17979687" y="9463125"/>
            <a:ext cx="1822754" cy="3847503"/>
          </a:xfrm>
          <a:custGeom>
            <a:avLst/>
            <a:gdLst/>
            <a:ahLst/>
            <a:cxnLst/>
            <a:rect r="r" b="b" t="t" l="l"/>
            <a:pathLst>
              <a:path h="3847503" w="1822754">
                <a:moveTo>
                  <a:pt x="1822754" y="0"/>
                </a:moveTo>
                <a:lnTo>
                  <a:pt x="0" y="0"/>
                </a:lnTo>
                <a:lnTo>
                  <a:pt x="0" y="3847503"/>
                </a:lnTo>
                <a:lnTo>
                  <a:pt x="1822754" y="3847503"/>
                </a:lnTo>
                <a:lnTo>
                  <a:pt x="1822754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707935">
            <a:off x="-1214067" y="8402831"/>
            <a:ext cx="2428135" cy="3337643"/>
          </a:xfrm>
          <a:custGeom>
            <a:avLst/>
            <a:gdLst/>
            <a:ahLst/>
            <a:cxnLst/>
            <a:rect r="r" b="b" t="t" l="l"/>
            <a:pathLst>
              <a:path h="3337643" w="2428135">
                <a:moveTo>
                  <a:pt x="0" y="0"/>
                </a:moveTo>
                <a:lnTo>
                  <a:pt x="2428134" y="0"/>
                </a:lnTo>
                <a:lnTo>
                  <a:pt x="2428134" y="3337642"/>
                </a:lnTo>
                <a:lnTo>
                  <a:pt x="0" y="33376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691935" y="5769631"/>
            <a:ext cx="1192130" cy="1192130"/>
          </a:xfrm>
          <a:custGeom>
            <a:avLst/>
            <a:gdLst/>
            <a:ahLst/>
            <a:cxnLst/>
            <a:rect r="r" b="b" t="t" l="l"/>
            <a:pathLst>
              <a:path h="1192130" w="1192130">
                <a:moveTo>
                  <a:pt x="0" y="0"/>
                </a:moveTo>
                <a:lnTo>
                  <a:pt x="1192130" y="0"/>
                </a:lnTo>
                <a:lnTo>
                  <a:pt x="1192130" y="1192130"/>
                </a:lnTo>
                <a:lnTo>
                  <a:pt x="0" y="1192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6130" y="2350896"/>
            <a:ext cx="844561" cy="844561"/>
          </a:xfrm>
          <a:custGeom>
            <a:avLst/>
            <a:gdLst/>
            <a:ahLst/>
            <a:cxnLst/>
            <a:rect r="r" b="b" t="t" l="l"/>
            <a:pathLst>
              <a:path h="844561" w="844561">
                <a:moveTo>
                  <a:pt x="0" y="0"/>
                </a:moveTo>
                <a:lnTo>
                  <a:pt x="844561" y="0"/>
                </a:lnTo>
                <a:lnTo>
                  <a:pt x="844561" y="844561"/>
                </a:lnTo>
                <a:lnTo>
                  <a:pt x="0" y="844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51132" y="-784134"/>
            <a:ext cx="17536868" cy="11977235"/>
          </a:xfrm>
          <a:custGeom>
            <a:avLst/>
            <a:gdLst/>
            <a:ahLst/>
            <a:cxnLst/>
            <a:rect r="r" b="b" t="t" l="l"/>
            <a:pathLst>
              <a:path h="11977235" w="17536868">
                <a:moveTo>
                  <a:pt x="0" y="0"/>
                </a:moveTo>
                <a:lnTo>
                  <a:pt x="17536868" y="0"/>
                </a:lnTo>
                <a:lnTo>
                  <a:pt x="17536868" y="11977235"/>
                </a:lnTo>
                <a:lnTo>
                  <a:pt x="0" y="119772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1862703" y="402717"/>
            <a:ext cx="12511164" cy="62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5"/>
              </a:lnSpc>
            </a:pPr>
            <a:r>
              <a:rPr lang="en-US" sz="4599" spc="-234" u="sng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 de travail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209239" y="9446178"/>
            <a:ext cx="1482696" cy="625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915994">
            <a:off x="-1126234" y="-540946"/>
            <a:ext cx="1607860" cy="3393900"/>
          </a:xfrm>
          <a:custGeom>
            <a:avLst/>
            <a:gdLst/>
            <a:ahLst/>
            <a:cxnLst/>
            <a:rect r="r" b="b" t="t" l="l"/>
            <a:pathLst>
              <a:path h="3393900" w="1607860">
                <a:moveTo>
                  <a:pt x="1607860" y="0"/>
                </a:moveTo>
                <a:lnTo>
                  <a:pt x="0" y="0"/>
                </a:lnTo>
                <a:lnTo>
                  <a:pt x="0" y="3393900"/>
                </a:lnTo>
                <a:lnTo>
                  <a:pt x="1607860" y="3393900"/>
                </a:lnTo>
                <a:lnTo>
                  <a:pt x="160786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481743">
            <a:off x="18327774" y="9242052"/>
            <a:ext cx="1822754" cy="3847503"/>
          </a:xfrm>
          <a:custGeom>
            <a:avLst/>
            <a:gdLst/>
            <a:ahLst/>
            <a:cxnLst/>
            <a:rect r="r" b="b" t="t" l="l"/>
            <a:pathLst>
              <a:path h="3847503" w="1822754">
                <a:moveTo>
                  <a:pt x="1822754" y="0"/>
                </a:moveTo>
                <a:lnTo>
                  <a:pt x="0" y="0"/>
                </a:lnTo>
                <a:lnTo>
                  <a:pt x="0" y="3847503"/>
                </a:lnTo>
                <a:lnTo>
                  <a:pt x="1822754" y="3847503"/>
                </a:lnTo>
                <a:lnTo>
                  <a:pt x="1822754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183256">
            <a:off x="16393320" y="-1668821"/>
            <a:ext cx="2428135" cy="3337643"/>
          </a:xfrm>
          <a:custGeom>
            <a:avLst/>
            <a:gdLst/>
            <a:ahLst/>
            <a:cxnLst/>
            <a:rect r="r" b="b" t="t" l="l"/>
            <a:pathLst>
              <a:path h="3337643" w="2428135">
                <a:moveTo>
                  <a:pt x="0" y="0"/>
                </a:moveTo>
                <a:lnTo>
                  <a:pt x="2428134" y="0"/>
                </a:lnTo>
                <a:lnTo>
                  <a:pt x="2428134" y="3337642"/>
                </a:lnTo>
                <a:lnTo>
                  <a:pt x="0" y="33376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59505" y="9258300"/>
            <a:ext cx="2758462" cy="2151600"/>
          </a:xfrm>
          <a:custGeom>
            <a:avLst/>
            <a:gdLst/>
            <a:ahLst/>
            <a:cxnLst/>
            <a:rect r="r" b="b" t="t" l="l"/>
            <a:pathLst>
              <a:path h="2151600" w="2758462">
                <a:moveTo>
                  <a:pt x="0" y="0"/>
                </a:moveTo>
                <a:lnTo>
                  <a:pt x="2758462" y="0"/>
                </a:lnTo>
                <a:lnTo>
                  <a:pt x="2758462" y="2151600"/>
                </a:lnTo>
                <a:lnTo>
                  <a:pt x="0" y="2151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18288000" cy="11165803"/>
          </a:xfrm>
          <a:custGeom>
            <a:avLst/>
            <a:gdLst/>
            <a:ahLst/>
            <a:cxnLst/>
            <a:rect r="r" b="b" t="t" l="l"/>
            <a:pathLst>
              <a:path h="11165803" w="18288000">
                <a:moveTo>
                  <a:pt x="0" y="0"/>
                </a:moveTo>
                <a:lnTo>
                  <a:pt x="18288000" y="0"/>
                </a:lnTo>
                <a:lnTo>
                  <a:pt x="18288000" y="11165803"/>
                </a:lnTo>
                <a:lnTo>
                  <a:pt x="0" y="111658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9144" r="0" b="-9144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312857" y="339395"/>
            <a:ext cx="3407073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 u="sng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Problématique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789964" y="9517490"/>
            <a:ext cx="938671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spc="-234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915994">
            <a:off x="-1355066" y="-668250"/>
            <a:ext cx="1607860" cy="3393900"/>
          </a:xfrm>
          <a:custGeom>
            <a:avLst/>
            <a:gdLst/>
            <a:ahLst/>
            <a:cxnLst/>
            <a:rect r="r" b="b" t="t" l="l"/>
            <a:pathLst>
              <a:path h="3393900" w="1607860">
                <a:moveTo>
                  <a:pt x="1607860" y="0"/>
                </a:moveTo>
                <a:lnTo>
                  <a:pt x="0" y="0"/>
                </a:lnTo>
                <a:lnTo>
                  <a:pt x="0" y="3393900"/>
                </a:lnTo>
                <a:lnTo>
                  <a:pt x="1607860" y="3393900"/>
                </a:lnTo>
                <a:lnTo>
                  <a:pt x="160786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481743">
            <a:off x="17376623" y="8827489"/>
            <a:ext cx="1822754" cy="3847503"/>
          </a:xfrm>
          <a:custGeom>
            <a:avLst/>
            <a:gdLst/>
            <a:ahLst/>
            <a:cxnLst/>
            <a:rect r="r" b="b" t="t" l="l"/>
            <a:pathLst>
              <a:path h="3847503" w="1822754">
                <a:moveTo>
                  <a:pt x="1822754" y="0"/>
                </a:moveTo>
                <a:lnTo>
                  <a:pt x="0" y="0"/>
                </a:lnTo>
                <a:lnTo>
                  <a:pt x="0" y="3847503"/>
                </a:lnTo>
                <a:lnTo>
                  <a:pt x="1822754" y="3847503"/>
                </a:lnTo>
                <a:lnTo>
                  <a:pt x="1822754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441533">
            <a:off x="-62258" y="9043446"/>
            <a:ext cx="2921521" cy="4015836"/>
          </a:xfrm>
          <a:custGeom>
            <a:avLst/>
            <a:gdLst/>
            <a:ahLst/>
            <a:cxnLst/>
            <a:rect r="r" b="b" t="t" l="l"/>
            <a:pathLst>
              <a:path h="4015836" w="2921521">
                <a:moveTo>
                  <a:pt x="0" y="0"/>
                </a:moveTo>
                <a:lnTo>
                  <a:pt x="2921521" y="0"/>
                </a:lnTo>
                <a:lnTo>
                  <a:pt x="2921521" y="4015836"/>
                </a:lnTo>
                <a:lnTo>
                  <a:pt x="0" y="4015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67678"/>
            <a:ext cx="19206832" cy="10219322"/>
          </a:xfrm>
          <a:custGeom>
            <a:avLst/>
            <a:gdLst/>
            <a:ahLst/>
            <a:cxnLst/>
            <a:rect r="r" b="b" t="t" l="l"/>
            <a:pathLst>
              <a:path h="10219322" w="19206832">
                <a:moveTo>
                  <a:pt x="0" y="0"/>
                </a:moveTo>
                <a:lnTo>
                  <a:pt x="19206832" y="0"/>
                </a:lnTo>
                <a:lnTo>
                  <a:pt x="19206832" y="10219322"/>
                </a:lnTo>
                <a:lnTo>
                  <a:pt x="0" y="102193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641" r="0" b="-5641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753215" y="402717"/>
            <a:ext cx="7613452" cy="62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6"/>
              </a:lnSpc>
            </a:pPr>
            <a:r>
              <a:rPr lang="en-US" sz="4600" spc="-234" u="sng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525069" y="9470390"/>
            <a:ext cx="262334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spc="-234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888319">
            <a:off x="-1230614" y="-1696950"/>
            <a:ext cx="1607860" cy="3393900"/>
          </a:xfrm>
          <a:custGeom>
            <a:avLst/>
            <a:gdLst/>
            <a:ahLst/>
            <a:cxnLst/>
            <a:rect r="r" b="b" t="t" l="l"/>
            <a:pathLst>
              <a:path h="3393900" w="1607860">
                <a:moveTo>
                  <a:pt x="1607860" y="0"/>
                </a:moveTo>
                <a:lnTo>
                  <a:pt x="0" y="0"/>
                </a:lnTo>
                <a:lnTo>
                  <a:pt x="0" y="3393900"/>
                </a:lnTo>
                <a:lnTo>
                  <a:pt x="1607860" y="3393900"/>
                </a:lnTo>
                <a:lnTo>
                  <a:pt x="160786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707935">
            <a:off x="-1625790" y="8618179"/>
            <a:ext cx="2428135" cy="3337643"/>
          </a:xfrm>
          <a:custGeom>
            <a:avLst/>
            <a:gdLst/>
            <a:ahLst/>
            <a:cxnLst/>
            <a:rect r="r" b="b" t="t" l="l"/>
            <a:pathLst>
              <a:path h="3337643" w="2428135">
                <a:moveTo>
                  <a:pt x="0" y="0"/>
                </a:moveTo>
                <a:lnTo>
                  <a:pt x="2428135" y="0"/>
                </a:lnTo>
                <a:lnTo>
                  <a:pt x="2428135" y="3337642"/>
                </a:lnTo>
                <a:lnTo>
                  <a:pt x="0" y="33376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481743">
            <a:off x="17619616" y="9051948"/>
            <a:ext cx="1822754" cy="3847503"/>
          </a:xfrm>
          <a:custGeom>
            <a:avLst/>
            <a:gdLst/>
            <a:ahLst/>
            <a:cxnLst/>
            <a:rect r="r" b="b" t="t" l="l"/>
            <a:pathLst>
              <a:path h="3847503" w="1822754">
                <a:moveTo>
                  <a:pt x="1822754" y="0"/>
                </a:moveTo>
                <a:lnTo>
                  <a:pt x="0" y="0"/>
                </a:lnTo>
                <a:lnTo>
                  <a:pt x="0" y="3847503"/>
                </a:lnTo>
                <a:lnTo>
                  <a:pt x="1822754" y="3847503"/>
                </a:lnTo>
                <a:lnTo>
                  <a:pt x="1822754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15990189" cy="9946999"/>
          </a:xfrm>
          <a:custGeom>
            <a:avLst/>
            <a:gdLst/>
            <a:ahLst/>
            <a:cxnLst/>
            <a:rect r="r" b="b" t="t" l="l"/>
            <a:pathLst>
              <a:path h="9946999" w="15990189">
                <a:moveTo>
                  <a:pt x="0" y="0"/>
                </a:moveTo>
                <a:lnTo>
                  <a:pt x="15990189" y="0"/>
                </a:lnTo>
                <a:lnTo>
                  <a:pt x="15990189" y="9946999"/>
                </a:lnTo>
                <a:lnTo>
                  <a:pt x="0" y="99469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70" t="0" r="-570" b="-7091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2925906" y="472821"/>
            <a:ext cx="12865447" cy="1178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5"/>
              </a:lnSpc>
            </a:pPr>
            <a:r>
              <a:rPr lang="en-US" sz="4599" spc="-234" u="sng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Méthodologie de travail</a:t>
            </a:r>
          </a:p>
          <a:p>
            <a:pPr algn="ctr">
              <a:lnSpc>
                <a:spcPts val="4415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6636895" y="9134475"/>
            <a:ext cx="262334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spc="-234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7856560">
            <a:off x="-913073" y="-1696950"/>
            <a:ext cx="1607860" cy="3393900"/>
          </a:xfrm>
          <a:custGeom>
            <a:avLst/>
            <a:gdLst/>
            <a:ahLst/>
            <a:cxnLst/>
            <a:rect r="r" b="b" t="t" l="l"/>
            <a:pathLst>
              <a:path h="3393900" w="1607860">
                <a:moveTo>
                  <a:pt x="1607860" y="0"/>
                </a:moveTo>
                <a:lnTo>
                  <a:pt x="0" y="0"/>
                </a:lnTo>
                <a:lnTo>
                  <a:pt x="0" y="3393900"/>
                </a:lnTo>
                <a:lnTo>
                  <a:pt x="1607860" y="3393900"/>
                </a:lnTo>
                <a:lnTo>
                  <a:pt x="160786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481743">
            <a:off x="17016741" y="9463125"/>
            <a:ext cx="1822754" cy="3847503"/>
          </a:xfrm>
          <a:custGeom>
            <a:avLst/>
            <a:gdLst/>
            <a:ahLst/>
            <a:cxnLst/>
            <a:rect r="r" b="b" t="t" l="l"/>
            <a:pathLst>
              <a:path h="3847503" w="1822754">
                <a:moveTo>
                  <a:pt x="1822754" y="0"/>
                </a:moveTo>
                <a:lnTo>
                  <a:pt x="0" y="0"/>
                </a:lnTo>
                <a:lnTo>
                  <a:pt x="0" y="3847503"/>
                </a:lnTo>
                <a:lnTo>
                  <a:pt x="1822754" y="3847503"/>
                </a:lnTo>
                <a:lnTo>
                  <a:pt x="1822754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441533">
            <a:off x="-1912986" y="8279082"/>
            <a:ext cx="2921521" cy="4015836"/>
          </a:xfrm>
          <a:custGeom>
            <a:avLst/>
            <a:gdLst/>
            <a:ahLst/>
            <a:cxnLst/>
            <a:rect r="r" b="b" t="t" l="l"/>
            <a:pathLst>
              <a:path h="4015836" w="2921521">
                <a:moveTo>
                  <a:pt x="0" y="0"/>
                </a:moveTo>
                <a:lnTo>
                  <a:pt x="2921521" y="0"/>
                </a:lnTo>
                <a:lnTo>
                  <a:pt x="2921521" y="4015836"/>
                </a:lnTo>
                <a:lnTo>
                  <a:pt x="0" y="4015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35159" y="311820"/>
            <a:ext cx="17292959" cy="10873603"/>
          </a:xfrm>
          <a:custGeom>
            <a:avLst/>
            <a:gdLst/>
            <a:ahLst/>
            <a:cxnLst/>
            <a:rect r="r" b="b" t="t" l="l"/>
            <a:pathLst>
              <a:path h="10873603" w="17292959">
                <a:moveTo>
                  <a:pt x="0" y="0"/>
                </a:moveTo>
                <a:lnTo>
                  <a:pt x="17292959" y="0"/>
                </a:lnTo>
                <a:lnTo>
                  <a:pt x="17292959" y="10873603"/>
                </a:lnTo>
                <a:lnTo>
                  <a:pt x="0" y="108736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3580303" y="402717"/>
            <a:ext cx="15639272" cy="62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5"/>
              </a:lnSpc>
            </a:pPr>
            <a:r>
              <a:rPr lang="en-US" sz="4599" spc="-234" u="sng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Outils de gestion de projet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480810" y="9470390"/>
            <a:ext cx="262334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spc="-234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915994">
            <a:off x="-803930" y="-668250"/>
            <a:ext cx="1607860" cy="3393900"/>
          </a:xfrm>
          <a:custGeom>
            <a:avLst/>
            <a:gdLst/>
            <a:ahLst/>
            <a:cxnLst/>
            <a:rect r="r" b="b" t="t" l="l"/>
            <a:pathLst>
              <a:path h="3393900" w="1607860">
                <a:moveTo>
                  <a:pt x="1607860" y="0"/>
                </a:moveTo>
                <a:lnTo>
                  <a:pt x="0" y="0"/>
                </a:lnTo>
                <a:lnTo>
                  <a:pt x="0" y="3393900"/>
                </a:lnTo>
                <a:lnTo>
                  <a:pt x="1607860" y="3393900"/>
                </a:lnTo>
                <a:lnTo>
                  <a:pt x="160786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481743">
            <a:off x="16973519" y="8753777"/>
            <a:ext cx="1822754" cy="3847503"/>
          </a:xfrm>
          <a:custGeom>
            <a:avLst/>
            <a:gdLst/>
            <a:ahLst/>
            <a:cxnLst/>
            <a:rect r="r" b="b" t="t" l="l"/>
            <a:pathLst>
              <a:path h="3847503" w="1822754">
                <a:moveTo>
                  <a:pt x="1822754" y="0"/>
                </a:moveTo>
                <a:lnTo>
                  <a:pt x="0" y="0"/>
                </a:lnTo>
                <a:lnTo>
                  <a:pt x="0" y="3847503"/>
                </a:lnTo>
                <a:lnTo>
                  <a:pt x="1822754" y="3847503"/>
                </a:lnTo>
                <a:lnTo>
                  <a:pt x="1822754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183256">
            <a:off x="16670829" y="-1546018"/>
            <a:ext cx="2428135" cy="3337643"/>
          </a:xfrm>
          <a:custGeom>
            <a:avLst/>
            <a:gdLst/>
            <a:ahLst/>
            <a:cxnLst/>
            <a:rect r="r" b="b" t="t" l="l"/>
            <a:pathLst>
              <a:path h="3337643" w="2428135">
                <a:moveTo>
                  <a:pt x="0" y="0"/>
                </a:moveTo>
                <a:lnTo>
                  <a:pt x="2428134" y="0"/>
                </a:lnTo>
                <a:lnTo>
                  <a:pt x="2428134" y="3337642"/>
                </a:lnTo>
                <a:lnTo>
                  <a:pt x="0" y="33376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35241" y="3960865"/>
            <a:ext cx="10017519" cy="4907417"/>
          </a:xfrm>
          <a:custGeom>
            <a:avLst/>
            <a:gdLst/>
            <a:ahLst/>
            <a:cxnLst/>
            <a:rect r="r" b="b" t="t" l="l"/>
            <a:pathLst>
              <a:path h="4907417" w="10017519">
                <a:moveTo>
                  <a:pt x="0" y="0"/>
                </a:moveTo>
                <a:lnTo>
                  <a:pt x="10017518" y="0"/>
                </a:lnTo>
                <a:lnTo>
                  <a:pt x="10017518" y="4907417"/>
                </a:lnTo>
                <a:lnTo>
                  <a:pt x="0" y="49074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4097"/>
            </a:stretch>
          </a:blipFill>
          <a:ln w="38100" cap="sq">
            <a:solidFill>
              <a:srgbClr val="000000"/>
            </a:solidFill>
            <a:prstDash val="sysDot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-3654178" y="749046"/>
            <a:ext cx="13851330" cy="62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5"/>
              </a:lnSpc>
            </a:pPr>
            <a:r>
              <a:rPr lang="en-US" sz="4599" spc="-234" u="sng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TRELLO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2888" y="2351394"/>
            <a:ext cx="16322693" cy="116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14627" indent="-357313" lvl="1">
              <a:lnSpc>
                <a:spcPts val="4633"/>
              </a:lnSpc>
              <a:buFont typeface="Arial"/>
              <a:buChar char="•"/>
            </a:pPr>
            <a:r>
              <a:rPr lang="en-US" sz="3309" spc="-168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Tableau Trello illustrant l’organisation des tâches, leur attribution aux membres et le suivi de la progression du projet.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21965" y="9134475"/>
            <a:ext cx="262334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spc="-234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034451">
            <a:off x="-1005176" y="-1618580"/>
            <a:ext cx="1607860" cy="3393900"/>
          </a:xfrm>
          <a:custGeom>
            <a:avLst/>
            <a:gdLst/>
            <a:ahLst/>
            <a:cxnLst/>
            <a:rect r="r" b="b" t="t" l="l"/>
            <a:pathLst>
              <a:path h="3393900" w="1607860">
                <a:moveTo>
                  <a:pt x="1607860" y="0"/>
                </a:moveTo>
                <a:lnTo>
                  <a:pt x="0" y="0"/>
                </a:lnTo>
                <a:lnTo>
                  <a:pt x="0" y="3393900"/>
                </a:lnTo>
                <a:lnTo>
                  <a:pt x="1607860" y="3393900"/>
                </a:lnTo>
                <a:lnTo>
                  <a:pt x="160786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481743">
            <a:off x="17376623" y="9199656"/>
            <a:ext cx="1822754" cy="3847503"/>
          </a:xfrm>
          <a:custGeom>
            <a:avLst/>
            <a:gdLst/>
            <a:ahLst/>
            <a:cxnLst/>
            <a:rect r="r" b="b" t="t" l="l"/>
            <a:pathLst>
              <a:path h="3847503" w="1822754">
                <a:moveTo>
                  <a:pt x="1822754" y="0"/>
                </a:moveTo>
                <a:lnTo>
                  <a:pt x="0" y="0"/>
                </a:lnTo>
                <a:lnTo>
                  <a:pt x="0" y="3847502"/>
                </a:lnTo>
                <a:lnTo>
                  <a:pt x="1822754" y="3847502"/>
                </a:lnTo>
                <a:lnTo>
                  <a:pt x="1822754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4415" y="3409073"/>
            <a:ext cx="16146908" cy="5585757"/>
          </a:xfrm>
          <a:custGeom>
            <a:avLst/>
            <a:gdLst/>
            <a:ahLst/>
            <a:cxnLst/>
            <a:rect r="r" b="b" t="t" l="l"/>
            <a:pathLst>
              <a:path h="5585757" w="16146908">
                <a:moveTo>
                  <a:pt x="0" y="0"/>
                </a:moveTo>
                <a:lnTo>
                  <a:pt x="16146908" y="0"/>
                </a:lnTo>
                <a:lnTo>
                  <a:pt x="16146908" y="5585758"/>
                </a:lnTo>
                <a:lnTo>
                  <a:pt x="0" y="55857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902817" y="402717"/>
            <a:ext cx="8882965" cy="62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6"/>
              </a:lnSpc>
            </a:pPr>
            <a:r>
              <a:rPr lang="en-US" sz="4600" spc="-234" u="sng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Diagramme de gantt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1589" y="2500534"/>
            <a:ext cx="13957598" cy="566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3037" indent="-346519" lvl="1">
              <a:lnSpc>
                <a:spcPts val="4493"/>
              </a:lnSpc>
              <a:buFont typeface="Arial"/>
              <a:buChar char="•"/>
            </a:pPr>
            <a:r>
              <a:rPr lang="en-US" sz="3209" spc="-163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Diagramme de Gantt illustrant les tâches et le calendrier d’un projet de développement React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525069" y="9134475"/>
            <a:ext cx="262334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  <a:spcBef>
                <a:spcPct val="0"/>
              </a:spcBef>
            </a:pPr>
            <a:r>
              <a:rPr lang="en-US" sz="4600" spc="-234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034451">
            <a:off x="-1005176" y="-1618580"/>
            <a:ext cx="1607860" cy="3393900"/>
          </a:xfrm>
          <a:custGeom>
            <a:avLst/>
            <a:gdLst/>
            <a:ahLst/>
            <a:cxnLst/>
            <a:rect r="r" b="b" t="t" l="l"/>
            <a:pathLst>
              <a:path h="3393900" w="1607860">
                <a:moveTo>
                  <a:pt x="1607860" y="0"/>
                </a:moveTo>
                <a:lnTo>
                  <a:pt x="0" y="0"/>
                </a:lnTo>
                <a:lnTo>
                  <a:pt x="0" y="3393900"/>
                </a:lnTo>
                <a:lnTo>
                  <a:pt x="1607860" y="3393900"/>
                </a:lnTo>
                <a:lnTo>
                  <a:pt x="160786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481743">
            <a:off x="17376623" y="9199656"/>
            <a:ext cx="1822754" cy="3847503"/>
          </a:xfrm>
          <a:custGeom>
            <a:avLst/>
            <a:gdLst/>
            <a:ahLst/>
            <a:cxnLst/>
            <a:rect r="r" b="b" t="t" l="l"/>
            <a:pathLst>
              <a:path h="3847503" w="1822754">
                <a:moveTo>
                  <a:pt x="1822754" y="0"/>
                </a:moveTo>
                <a:lnTo>
                  <a:pt x="0" y="0"/>
                </a:lnTo>
                <a:lnTo>
                  <a:pt x="0" y="3847502"/>
                </a:lnTo>
                <a:lnTo>
                  <a:pt x="1822754" y="3847502"/>
                </a:lnTo>
                <a:lnTo>
                  <a:pt x="1822754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762956" y="3099154"/>
            <a:ext cx="12893280" cy="5273499"/>
          </a:xfrm>
          <a:custGeom>
            <a:avLst/>
            <a:gdLst/>
            <a:ahLst/>
            <a:cxnLst/>
            <a:rect r="r" b="b" t="t" l="l"/>
            <a:pathLst>
              <a:path h="5273499" w="12893280">
                <a:moveTo>
                  <a:pt x="0" y="0"/>
                </a:moveTo>
                <a:lnTo>
                  <a:pt x="12893280" y="0"/>
                </a:lnTo>
                <a:lnTo>
                  <a:pt x="12893280" y="5273499"/>
                </a:lnTo>
                <a:lnTo>
                  <a:pt x="0" y="52734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858" r="0" b="-1785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934665" y="554069"/>
            <a:ext cx="8882965" cy="62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6"/>
              </a:lnSpc>
            </a:pPr>
            <a:r>
              <a:rPr lang="en-US" sz="4600" spc="-234" u="sng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Diagramme de perte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1785" y="1531239"/>
            <a:ext cx="16296161" cy="116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4627" indent="-357313" lvl="1">
              <a:lnSpc>
                <a:spcPts val="4633"/>
              </a:lnSpc>
              <a:buFont typeface="Arial"/>
              <a:buChar char="•"/>
            </a:pPr>
            <a:r>
              <a:rPr lang="en-US" sz="3309" spc="-168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3309" spc="-168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iagramme de PERT permettant de visualiser l’ordre des tâches, leurs relations et les étapes clés du projet.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034451">
            <a:off x="-1005176" y="-1618580"/>
            <a:ext cx="1607860" cy="3393900"/>
          </a:xfrm>
          <a:custGeom>
            <a:avLst/>
            <a:gdLst/>
            <a:ahLst/>
            <a:cxnLst/>
            <a:rect r="r" b="b" t="t" l="l"/>
            <a:pathLst>
              <a:path h="3393900" w="1607860">
                <a:moveTo>
                  <a:pt x="1607860" y="0"/>
                </a:moveTo>
                <a:lnTo>
                  <a:pt x="0" y="0"/>
                </a:lnTo>
                <a:lnTo>
                  <a:pt x="0" y="3393900"/>
                </a:lnTo>
                <a:lnTo>
                  <a:pt x="1607860" y="3393900"/>
                </a:lnTo>
                <a:lnTo>
                  <a:pt x="160786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481743">
            <a:off x="17376623" y="9199656"/>
            <a:ext cx="1822754" cy="3847503"/>
          </a:xfrm>
          <a:custGeom>
            <a:avLst/>
            <a:gdLst/>
            <a:ahLst/>
            <a:cxnLst/>
            <a:rect r="r" b="b" t="t" l="l"/>
            <a:pathLst>
              <a:path h="3847503" w="1822754">
                <a:moveTo>
                  <a:pt x="1822754" y="0"/>
                </a:moveTo>
                <a:lnTo>
                  <a:pt x="0" y="0"/>
                </a:lnTo>
                <a:lnTo>
                  <a:pt x="0" y="3847502"/>
                </a:lnTo>
                <a:lnTo>
                  <a:pt x="1822754" y="3847502"/>
                </a:lnTo>
                <a:lnTo>
                  <a:pt x="1822754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25505" y="1443522"/>
            <a:ext cx="17636990" cy="7814778"/>
          </a:xfrm>
          <a:custGeom>
            <a:avLst/>
            <a:gdLst/>
            <a:ahLst/>
            <a:cxnLst/>
            <a:rect r="r" b="b" t="t" l="l"/>
            <a:pathLst>
              <a:path h="7814778" w="17636990">
                <a:moveTo>
                  <a:pt x="0" y="0"/>
                </a:moveTo>
                <a:lnTo>
                  <a:pt x="17636990" y="0"/>
                </a:lnTo>
                <a:lnTo>
                  <a:pt x="17636990" y="7814778"/>
                </a:lnTo>
                <a:lnTo>
                  <a:pt x="0" y="78147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864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201246" y="472821"/>
            <a:ext cx="8882965" cy="1178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6"/>
              </a:lnSpc>
            </a:pPr>
            <a:r>
              <a:rPr lang="en-US" sz="4600" spc="-234" u="sng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 marché marocain</a:t>
            </a:r>
          </a:p>
          <a:p>
            <a:pPr algn="ctr">
              <a:lnSpc>
                <a:spcPts val="4416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6393902" y="9134475"/>
            <a:ext cx="524669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  <a:spcBef>
                <a:spcPct val="0"/>
              </a:spcBef>
            </a:pPr>
            <a:r>
              <a:rPr lang="en-US" sz="4600" spc="-234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1576" y="301238"/>
            <a:ext cx="17664849" cy="8893391"/>
            <a:chOff x="0" y="0"/>
            <a:chExt cx="4698834" cy="23656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98834" cy="2365634"/>
            </a:xfrm>
            <a:custGeom>
              <a:avLst/>
              <a:gdLst/>
              <a:ahLst/>
              <a:cxnLst/>
              <a:rect r="r" b="b" t="t" l="l"/>
              <a:pathLst>
                <a:path h="2365634" w="4698834">
                  <a:moveTo>
                    <a:pt x="2191" y="0"/>
                  </a:moveTo>
                  <a:lnTo>
                    <a:pt x="4696643" y="0"/>
                  </a:lnTo>
                  <a:cubicBezTo>
                    <a:pt x="4697224" y="0"/>
                    <a:pt x="4697781" y="231"/>
                    <a:pt x="4698192" y="642"/>
                  </a:cubicBezTo>
                  <a:cubicBezTo>
                    <a:pt x="4698603" y="1053"/>
                    <a:pt x="4698834" y="1610"/>
                    <a:pt x="4698834" y="2191"/>
                  </a:cubicBezTo>
                  <a:lnTo>
                    <a:pt x="4698834" y="2363443"/>
                  </a:lnTo>
                  <a:cubicBezTo>
                    <a:pt x="4698834" y="2364024"/>
                    <a:pt x="4698603" y="2364581"/>
                    <a:pt x="4698192" y="2364992"/>
                  </a:cubicBezTo>
                  <a:cubicBezTo>
                    <a:pt x="4697781" y="2365403"/>
                    <a:pt x="4697224" y="2365634"/>
                    <a:pt x="4696643" y="2365634"/>
                  </a:cubicBezTo>
                  <a:lnTo>
                    <a:pt x="2191" y="2365634"/>
                  </a:lnTo>
                  <a:cubicBezTo>
                    <a:pt x="1610" y="2365634"/>
                    <a:pt x="1053" y="2365403"/>
                    <a:pt x="642" y="2364992"/>
                  </a:cubicBezTo>
                  <a:cubicBezTo>
                    <a:pt x="231" y="2364581"/>
                    <a:pt x="0" y="2364024"/>
                    <a:pt x="0" y="2363443"/>
                  </a:cubicBezTo>
                  <a:lnTo>
                    <a:pt x="0" y="2191"/>
                  </a:lnTo>
                  <a:cubicBezTo>
                    <a:pt x="0" y="1610"/>
                    <a:pt x="231" y="1053"/>
                    <a:pt x="642" y="642"/>
                  </a:cubicBezTo>
                  <a:cubicBezTo>
                    <a:pt x="1053" y="231"/>
                    <a:pt x="1610" y="0"/>
                    <a:pt x="219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ysDot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4698834" cy="2365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3815734" y="3447157"/>
            <a:ext cx="3565498" cy="0"/>
          </a:xfrm>
          <a:prstGeom prst="line">
            <a:avLst/>
          </a:prstGeom>
          <a:ln cap="flat" w="19050">
            <a:solidFill>
              <a:srgbClr val="6D6B6B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0">
            <a:off x="10885390" y="3242504"/>
            <a:ext cx="3489683" cy="0"/>
          </a:xfrm>
          <a:prstGeom prst="line">
            <a:avLst/>
          </a:prstGeom>
          <a:ln cap="flat" w="19050">
            <a:solidFill>
              <a:srgbClr val="6D6B6B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3811458" y="301238"/>
            <a:ext cx="4275" cy="6581634"/>
          </a:xfrm>
          <a:prstGeom prst="line">
            <a:avLst/>
          </a:prstGeom>
          <a:ln cap="flat" w="19050">
            <a:solidFill>
              <a:srgbClr val="6D6B6B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>
            <a:off x="7381232" y="301238"/>
            <a:ext cx="0" cy="6467334"/>
          </a:xfrm>
          <a:prstGeom prst="line">
            <a:avLst/>
          </a:prstGeom>
          <a:ln cap="flat" w="19050">
            <a:solidFill>
              <a:srgbClr val="6D6B6B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>
            <a:off x="10885390" y="301238"/>
            <a:ext cx="4275" cy="6730850"/>
          </a:xfrm>
          <a:prstGeom prst="line">
            <a:avLst/>
          </a:prstGeom>
          <a:ln cap="flat" w="19050">
            <a:solidFill>
              <a:srgbClr val="6D6B6B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>
            <a:off x="14375073" y="301238"/>
            <a:ext cx="0" cy="6491935"/>
          </a:xfrm>
          <a:prstGeom prst="line">
            <a:avLst/>
          </a:prstGeom>
          <a:ln cap="flat" w="19050">
            <a:solidFill>
              <a:srgbClr val="6D6B6B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9144000" y="6793173"/>
            <a:ext cx="0" cy="2401457"/>
          </a:xfrm>
          <a:prstGeom prst="line">
            <a:avLst/>
          </a:prstGeom>
          <a:ln cap="flat" w="19050">
            <a:solidFill>
              <a:srgbClr val="6D6B6B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530847" y="503845"/>
            <a:ext cx="3214090" cy="269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2"/>
              </a:lnSpc>
            </a:pPr>
            <a:r>
              <a:rPr lang="en-US" sz="1615" b="true">
                <a:solidFill>
                  <a:srgbClr val="000000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Partenaires clés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183433" y="532420"/>
            <a:ext cx="435130" cy="360108"/>
          </a:xfrm>
          <a:custGeom>
            <a:avLst/>
            <a:gdLst/>
            <a:ahLst/>
            <a:cxnLst/>
            <a:rect r="r" b="b" t="t" l="l"/>
            <a:pathLst>
              <a:path h="360108" w="435130">
                <a:moveTo>
                  <a:pt x="0" y="0"/>
                </a:moveTo>
                <a:lnTo>
                  <a:pt x="435130" y="0"/>
                </a:lnTo>
                <a:lnTo>
                  <a:pt x="435130" y="360107"/>
                </a:lnTo>
                <a:lnTo>
                  <a:pt x="0" y="360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828220" y="546632"/>
            <a:ext cx="337090" cy="345895"/>
          </a:xfrm>
          <a:custGeom>
            <a:avLst/>
            <a:gdLst/>
            <a:ahLst/>
            <a:cxnLst/>
            <a:rect r="r" b="b" t="t" l="l"/>
            <a:pathLst>
              <a:path h="345895" w="337090">
                <a:moveTo>
                  <a:pt x="0" y="0"/>
                </a:moveTo>
                <a:lnTo>
                  <a:pt x="337090" y="0"/>
                </a:lnTo>
                <a:lnTo>
                  <a:pt x="337090" y="345895"/>
                </a:lnTo>
                <a:lnTo>
                  <a:pt x="0" y="3458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>
            <a:off x="320567" y="6882873"/>
            <a:ext cx="17656298" cy="0"/>
          </a:xfrm>
          <a:prstGeom prst="line">
            <a:avLst/>
          </a:prstGeom>
          <a:ln cap="flat" w="19050">
            <a:solidFill>
              <a:srgbClr val="6D6B6B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3780304" y="546632"/>
            <a:ext cx="390449" cy="341465"/>
          </a:xfrm>
          <a:custGeom>
            <a:avLst/>
            <a:gdLst/>
            <a:ahLst/>
            <a:cxnLst/>
            <a:rect r="r" b="b" t="t" l="l"/>
            <a:pathLst>
              <a:path h="341465" w="390449">
                <a:moveTo>
                  <a:pt x="0" y="0"/>
                </a:moveTo>
                <a:lnTo>
                  <a:pt x="390449" y="0"/>
                </a:lnTo>
                <a:lnTo>
                  <a:pt x="390449" y="341465"/>
                </a:lnTo>
                <a:lnTo>
                  <a:pt x="0" y="3414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7460215" y="546632"/>
            <a:ext cx="282691" cy="321240"/>
          </a:xfrm>
          <a:custGeom>
            <a:avLst/>
            <a:gdLst/>
            <a:ahLst/>
            <a:cxnLst/>
            <a:rect r="r" b="b" t="t" l="l"/>
            <a:pathLst>
              <a:path h="321240" w="282691">
                <a:moveTo>
                  <a:pt x="0" y="0"/>
                </a:moveTo>
                <a:lnTo>
                  <a:pt x="282691" y="0"/>
                </a:lnTo>
                <a:lnTo>
                  <a:pt x="282691" y="321240"/>
                </a:lnTo>
                <a:lnTo>
                  <a:pt x="0" y="3212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742707" y="3460460"/>
            <a:ext cx="428046" cy="249823"/>
          </a:xfrm>
          <a:custGeom>
            <a:avLst/>
            <a:gdLst/>
            <a:ahLst/>
            <a:cxnLst/>
            <a:rect r="r" b="b" t="t" l="l"/>
            <a:pathLst>
              <a:path h="249823" w="428046">
                <a:moveTo>
                  <a:pt x="0" y="0"/>
                </a:moveTo>
                <a:lnTo>
                  <a:pt x="428046" y="0"/>
                </a:lnTo>
                <a:lnTo>
                  <a:pt x="428046" y="249823"/>
                </a:lnTo>
                <a:lnTo>
                  <a:pt x="0" y="2498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664090" y="6793173"/>
            <a:ext cx="349668" cy="332502"/>
          </a:xfrm>
          <a:custGeom>
            <a:avLst/>
            <a:gdLst/>
            <a:ahLst/>
            <a:cxnLst/>
            <a:rect r="r" b="b" t="t" l="l"/>
            <a:pathLst>
              <a:path h="332502" w="349668">
                <a:moveTo>
                  <a:pt x="0" y="0"/>
                </a:moveTo>
                <a:lnTo>
                  <a:pt x="349668" y="0"/>
                </a:lnTo>
                <a:lnTo>
                  <a:pt x="349668" y="332502"/>
                </a:lnTo>
                <a:lnTo>
                  <a:pt x="0" y="33250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7428710" y="6943908"/>
            <a:ext cx="345702" cy="332502"/>
          </a:xfrm>
          <a:custGeom>
            <a:avLst/>
            <a:gdLst/>
            <a:ahLst/>
            <a:cxnLst/>
            <a:rect r="r" b="b" t="t" l="l"/>
            <a:pathLst>
              <a:path h="332502" w="345702">
                <a:moveTo>
                  <a:pt x="0" y="0"/>
                </a:moveTo>
                <a:lnTo>
                  <a:pt x="345702" y="0"/>
                </a:lnTo>
                <a:lnTo>
                  <a:pt x="345702" y="332502"/>
                </a:lnTo>
                <a:lnTo>
                  <a:pt x="0" y="33250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789225" y="3469985"/>
            <a:ext cx="338360" cy="310676"/>
          </a:xfrm>
          <a:custGeom>
            <a:avLst/>
            <a:gdLst/>
            <a:ahLst/>
            <a:cxnLst/>
            <a:rect r="r" b="b" t="t" l="l"/>
            <a:pathLst>
              <a:path h="310676" w="338360">
                <a:moveTo>
                  <a:pt x="0" y="0"/>
                </a:moveTo>
                <a:lnTo>
                  <a:pt x="338361" y="0"/>
                </a:lnTo>
                <a:lnTo>
                  <a:pt x="338361" y="310676"/>
                </a:lnTo>
                <a:lnTo>
                  <a:pt x="0" y="31067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337387" y="581835"/>
            <a:ext cx="321659" cy="281222"/>
          </a:xfrm>
          <a:custGeom>
            <a:avLst/>
            <a:gdLst/>
            <a:ahLst/>
            <a:cxnLst/>
            <a:rect r="r" b="b" t="t" l="l"/>
            <a:pathLst>
              <a:path h="281222" w="321659">
                <a:moveTo>
                  <a:pt x="0" y="0"/>
                </a:moveTo>
                <a:lnTo>
                  <a:pt x="321659" y="0"/>
                </a:lnTo>
                <a:lnTo>
                  <a:pt x="321659" y="281222"/>
                </a:lnTo>
                <a:lnTo>
                  <a:pt x="0" y="28122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7602421" y="503845"/>
            <a:ext cx="2473006" cy="269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2"/>
              </a:lnSpc>
            </a:pPr>
            <a:r>
              <a:rPr lang="en-US" sz="1615" b="true">
                <a:solidFill>
                  <a:srgbClr val="000000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Proposition de valeur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596262" y="503845"/>
            <a:ext cx="2477281" cy="269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2"/>
              </a:lnSpc>
            </a:pPr>
            <a:r>
              <a:rPr lang="en-US" sz="1615" b="true">
                <a:solidFill>
                  <a:srgbClr val="000000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Segments de clients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110855" y="3398319"/>
            <a:ext cx="2010013" cy="269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2"/>
              </a:lnSpc>
            </a:pPr>
            <a:r>
              <a:rPr lang="en-US" sz="1615" b="true">
                <a:solidFill>
                  <a:srgbClr val="000000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Canaux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032647" y="3409057"/>
            <a:ext cx="2473767" cy="269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2"/>
              </a:lnSpc>
            </a:pPr>
            <a:r>
              <a:rPr lang="en-US" sz="1615" b="true">
                <a:solidFill>
                  <a:srgbClr val="000000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Ressources clés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110855" y="513370"/>
            <a:ext cx="2473006" cy="257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9"/>
              </a:lnSpc>
            </a:pPr>
            <a:r>
              <a:rPr lang="en-US" sz="1615" b="true">
                <a:solidFill>
                  <a:srgbClr val="000000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Relations clients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049253" y="503845"/>
            <a:ext cx="2418244" cy="269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2"/>
              </a:lnSpc>
            </a:pPr>
            <a:r>
              <a:rPr lang="en-US" sz="1615" b="true">
                <a:solidFill>
                  <a:srgbClr val="000000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Activités clés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30847" y="6882944"/>
            <a:ext cx="3214090" cy="269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2"/>
              </a:lnSpc>
            </a:pPr>
            <a:r>
              <a:rPr lang="en-US" sz="1615" b="true">
                <a:solidFill>
                  <a:srgbClr val="000000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Structure des coûts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435509" y="6882944"/>
            <a:ext cx="3214090" cy="269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2"/>
              </a:lnSpc>
            </a:pPr>
            <a:r>
              <a:rPr lang="en-US" sz="1615" b="true">
                <a:solidFill>
                  <a:srgbClr val="000000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Sources de revenus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042555" y="9299980"/>
            <a:ext cx="693387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519"/>
              </a:lnSpc>
            </a:pPr>
            <a:r>
              <a:rPr lang="en-US" sz="4599" spc="78" u="sng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Model Canvas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30847" y="863057"/>
            <a:ext cx="2614486" cy="314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482" indent="-224241" lvl="1">
              <a:lnSpc>
                <a:spcPts val="2492"/>
              </a:lnSpc>
              <a:buFont typeface="Arial"/>
              <a:buChar char="•"/>
            </a:pPr>
            <a:r>
              <a:rPr lang="en-US" sz="2077">
                <a:solidFill>
                  <a:srgbClr val="828282"/>
                </a:solidFill>
                <a:latin typeface="Garet Light"/>
                <a:ea typeface="Garet Light"/>
                <a:cs typeface="Garet Light"/>
                <a:sym typeface="Garet Light"/>
              </a:rPr>
              <a:t>OFPPT</a:t>
            </a:r>
          </a:p>
          <a:p>
            <a:pPr algn="l" marL="448482" indent="-224241" lvl="1">
              <a:lnSpc>
                <a:spcPts val="2492"/>
              </a:lnSpc>
              <a:buFont typeface="Arial"/>
              <a:buChar char="•"/>
            </a:pPr>
            <a:r>
              <a:rPr lang="en-US" sz="2077">
                <a:solidFill>
                  <a:srgbClr val="828282"/>
                </a:solidFill>
                <a:latin typeface="Garet Light"/>
                <a:ea typeface="Garet Light"/>
                <a:cs typeface="Garet Light"/>
                <a:sym typeface="Garet Light"/>
              </a:rPr>
              <a:t>ISIT</a:t>
            </a:r>
          </a:p>
          <a:p>
            <a:pPr algn="l" marL="448482" indent="-224241" lvl="1">
              <a:lnSpc>
                <a:spcPts val="2492"/>
              </a:lnSpc>
              <a:buFont typeface="Arial"/>
              <a:buChar char="•"/>
            </a:pPr>
            <a:r>
              <a:rPr lang="en-US" sz="2077">
                <a:solidFill>
                  <a:srgbClr val="828282"/>
                </a:solidFill>
                <a:latin typeface="Garet Light"/>
                <a:ea typeface="Garet Light"/>
                <a:cs typeface="Garet Light"/>
                <a:sym typeface="Garet Light"/>
              </a:rPr>
              <a:t>ISTA</a:t>
            </a:r>
          </a:p>
          <a:p>
            <a:pPr algn="l" marL="448482" indent="-224241" lvl="1">
              <a:lnSpc>
                <a:spcPts val="2492"/>
              </a:lnSpc>
              <a:buFont typeface="Arial"/>
              <a:buChar char="•"/>
            </a:pPr>
            <a:r>
              <a:rPr lang="en-US" sz="2077">
                <a:solidFill>
                  <a:srgbClr val="828282"/>
                </a:solidFill>
                <a:latin typeface="Garet Light"/>
                <a:ea typeface="Garet Light"/>
                <a:cs typeface="Garet Light"/>
                <a:sym typeface="Garet Light"/>
              </a:rPr>
              <a:t>restaurants</a:t>
            </a:r>
          </a:p>
          <a:p>
            <a:pPr algn="l" marL="448482" indent="-224241" lvl="1">
              <a:lnSpc>
                <a:spcPts val="2492"/>
              </a:lnSpc>
              <a:buFont typeface="Arial"/>
              <a:buChar char="•"/>
            </a:pPr>
            <a:r>
              <a:rPr lang="en-US" sz="2077">
                <a:solidFill>
                  <a:srgbClr val="828282"/>
                </a:solidFill>
                <a:latin typeface="Garet Light"/>
                <a:ea typeface="Garet Light"/>
                <a:cs typeface="Garet Light"/>
                <a:sym typeface="Garet Light"/>
              </a:rPr>
              <a:t>hôtels</a:t>
            </a:r>
          </a:p>
          <a:p>
            <a:pPr algn="l" marL="448482" indent="-224241" lvl="1">
              <a:lnSpc>
                <a:spcPts val="2492"/>
              </a:lnSpc>
              <a:buFont typeface="Arial"/>
              <a:buChar char="•"/>
            </a:pPr>
            <a:r>
              <a:rPr lang="en-US" sz="2077">
                <a:solidFill>
                  <a:srgbClr val="828282"/>
                </a:solidFill>
                <a:latin typeface="Garet Light"/>
                <a:ea typeface="Garet Light"/>
                <a:cs typeface="Garet Light"/>
                <a:sym typeface="Garet Light"/>
              </a:rPr>
              <a:t>Association de chefs au maroc</a:t>
            </a:r>
          </a:p>
          <a:p>
            <a:pPr algn="l" marL="448482" indent="-224241" lvl="1">
              <a:lnSpc>
                <a:spcPts val="2492"/>
              </a:lnSpc>
              <a:buFont typeface="Arial"/>
              <a:buChar char="•"/>
            </a:pPr>
            <a:r>
              <a:rPr lang="en-US" sz="2077">
                <a:solidFill>
                  <a:srgbClr val="828282"/>
                </a:solidFill>
                <a:latin typeface="Garet Light"/>
                <a:ea typeface="Garet Light"/>
                <a:cs typeface="Garet Light"/>
                <a:sym typeface="Garet Light"/>
              </a:rPr>
              <a:t>chaines hôtelieres</a:t>
            </a:r>
          </a:p>
          <a:p>
            <a:pPr algn="l">
              <a:lnSpc>
                <a:spcPts val="2492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7602421" y="863057"/>
            <a:ext cx="3049120" cy="440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482" indent="-224241" lvl="1">
              <a:lnSpc>
                <a:spcPts val="2492"/>
              </a:lnSpc>
              <a:buFont typeface="Arial"/>
              <a:buChar char="•"/>
            </a:pPr>
            <a:r>
              <a:rPr lang="en-US" sz="2077">
                <a:solidFill>
                  <a:srgbClr val="828282"/>
                </a:solidFill>
                <a:latin typeface="Garet Light"/>
                <a:ea typeface="Garet Light"/>
                <a:cs typeface="Garet Light"/>
                <a:sym typeface="Garet Light"/>
              </a:rPr>
              <a:t>Première plateforme professionnelle dédiée aux métiers culinaires au Maroc</a:t>
            </a:r>
          </a:p>
          <a:p>
            <a:pPr algn="l" marL="448482" indent="-224241" lvl="1">
              <a:lnSpc>
                <a:spcPts val="2492"/>
              </a:lnSpc>
              <a:buFont typeface="Arial"/>
              <a:buChar char="•"/>
            </a:pPr>
            <a:r>
              <a:rPr lang="en-US" sz="2077">
                <a:solidFill>
                  <a:srgbClr val="828282"/>
                </a:solidFill>
                <a:latin typeface="Garet Light"/>
                <a:ea typeface="Garet Light"/>
                <a:cs typeface="Garet Light"/>
                <a:sym typeface="Garet Light"/>
              </a:rPr>
              <a:t> Portfolio culinaire visuel</a:t>
            </a:r>
          </a:p>
          <a:p>
            <a:pPr algn="l" marL="448482" indent="-224241" lvl="1">
              <a:lnSpc>
                <a:spcPts val="2492"/>
              </a:lnSpc>
              <a:buFont typeface="Arial"/>
              <a:buChar char="•"/>
            </a:pPr>
            <a:r>
              <a:rPr lang="en-US" sz="2077">
                <a:solidFill>
                  <a:srgbClr val="828282"/>
                </a:solidFill>
                <a:latin typeface="Garet Light"/>
                <a:ea typeface="Garet Light"/>
                <a:cs typeface="Garet Light"/>
                <a:sym typeface="Garet Light"/>
              </a:rPr>
              <a:t>recrutement spécialisé réseau professionnel entre chefs et restaurateurs.</a:t>
            </a:r>
          </a:p>
          <a:p>
            <a:pPr algn="just">
              <a:lnSpc>
                <a:spcPts val="2492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14600538" y="892527"/>
            <a:ext cx="2797565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49071" indent="-224536" lvl="1">
              <a:lnSpc>
                <a:spcPts val="2495"/>
              </a:lnSpc>
              <a:buFont typeface="Arial"/>
              <a:buChar char="•"/>
            </a:pPr>
            <a:r>
              <a:rPr lang="en-US" sz="2079">
                <a:solidFill>
                  <a:srgbClr val="828282"/>
                </a:solidFill>
                <a:latin typeface="Garet Light"/>
                <a:ea typeface="Garet Light"/>
                <a:cs typeface="Garet Light"/>
                <a:sym typeface="Garet Light"/>
              </a:rPr>
              <a:t>Chefs cuisiniers</a:t>
            </a:r>
          </a:p>
          <a:p>
            <a:pPr algn="just" marL="449071" indent="-224536" lvl="1">
              <a:lnSpc>
                <a:spcPts val="2495"/>
              </a:lnSpc>
              <a:buFont typeface="Arial"/>
              <a:buChar char="•"/>
            </a:pPr>
            <a:r>
              <a:rPr lang="en-US" sz="2079">
                <a:solidFill>
                  <a:srgbClr val="828282"/>
                </a:solidFill>
                <a:latin typeface="Garet Light"/>
                <a:ea typeface="Garet Light"/>
                <a:cs typeface="Garet Light"/>
                <a:sym typeface="Garet Light"/>
              </a:rPr>
              <a:t>Jeunes  diplômés</a:t>
            </a:r>
          </a:p>
          <a:p>
            <a:pPr algn="just" marL="449071" indent="-224536" lvl="1">
              <a:lnSpc>
                <a:spcPts val="2495"/>
              </a:lnSpc>
              <a:buFont typeface="Arial"/>
              <a:buChar char="•"/>
            </a:pPr>
            <a:r>
              <a:rPr lang="en-US" sz="2079">
                <a:solidFill>
                  <a:srgbClr val="828282"/>
                </a:solidFill>
                <a:latin typeface="Garet Light"/>
                <a:ea typeface="Garet Light"/>
                <a:cs typeface="Garet Light"/>
                <a:sym typeface="Garet Light"/>
              </a:rPr>
              <a:t>restaurateurs</a:t>
            </a:r>
          </a:p>
          <a:p>
            <a:pPr algn="just" marL="449071" indent="-224536" lvl="1">
              <a:lnSpc>
                <a:spcPts val="2495"/>
              </a:lnSpc>
              <a:buFont typeface="Arial"/>
              <a:buChar char="•"/>
            </a:pPr>
            <a:r>
              <a:rPr lang="en-US" sz="2079">
                <a:solidFill>
                  <a:srgbClr val="828282"/>
                </a:solidFill>
                <a:latin typeface="Garet Light"/>
                <a:ea typeface="Garet Light"/>
                <a:cs typeface="Garet Light"/>
                <a:sym typeface="Garet Light"/>
              </a:rPr>
              <a:t>hôtels</a:t>
            </a:r>
          </a:p>
          <a:p>
            <a:pPr algn="just" marL="449071" indent="-224536" lvl="1">
              <a:lnSpc>
                <a:spcPts val="2495"/>
              </a:lnSpc>
              <a:buFont typeface="Arial"/>
              <a:buChar char="•"/>
            </a:pPr>
            <a:r>
              <a:rPr lang="en-US" sz="2079">
                <a:solidFill>
                  <a:srgbClr val="828282"/>
                </a:solidFill>
                <a:latin typeface="Garet Light"/>
                <a:ea typeface="Garet Light"/>
                <a:cs typeface="Garet Light"/>
                <a:sym typeface="Garet Light"/>
              </a:rPr>
              <a:t>recruteurs</a:t>
            </a:r>
          </a:p>
          <a:p>
            <a:pPr algn="just">
              <a:lnSpc>
                <a:spcPts val="2495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11086669" y="3625323"/>
            <a:ext cx="2870061" cy="295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1211" indent="-210605" lvl="1">
              <a:lnSpc>
                <a:spcPts val="2341"/>
              </a:lnSpc>
              <a:buFont typeface="Arial"/>
              <a:buChar char="•"/>
            </a:pPr>
            <a:r>
              <a:rPr lang="en-US" sz="1950">
                <a:solidFill>
                  <a:srgbClr val="828282"/>
                </a:solidFill>
                <a:latin typeface="Garet Light"/>
                <a:ea typeface="Garet Light"/>
                <a:cs typeface="Garet Light"/>
                <a:sym typeface="Garet Light"/>
              </a:rPr>
              <a:t>Instagram</a:t>
            </a:r>
          </a:p>
          <a:p>
            <a:pPr algn="l" marL="421211" indent="-210605" lvl="1">
              <a:lnSpc>
                <a:spcPts val="2341"/>
              </a:lnSpc>
              <a:buFont typeface="Arial"/>
              <a:buChar char="•"/>
            </a:pPr>
            <a:r>
              <a:rPr lang="en-US" sz="1950">
                <a:solidFill>
                  <a:srgbClr val="828282"/>
                </a:solidFill>
                <a:latin typeface="Garet Light"/>
                <a:ea typeface="Garet Light"/>
                <a:cs typeface="Garet Light"/>
                <a:sym typeface="Garet Light"/>
              </a:rPr>
              <a:t>tiktok</a:t>
            </a:r>
          </a:p>
          <a:p>
            <a:pPr algn="l" marL="421211" indent="-210605" lvl="1">
              <a:lnSpc>
                <a:spcPts val="2341"/>
              </a:lnSpc>
              <a:buFont typeface="Arial"/>
              <a:buChar char="•"/>
            </a:pPr>
            <a:r>
              <a:rPr lang="en-US" sz="1950">
                <a:solidFill>
                  <a:srgbClr val="828282"/>
                </a:solidFill>
                <a:latin typeface="Garet Light"/>
                <a:ea typeface="Garet Light"/>
                <a:cs typeface="Garet Light"/>
                <a:sym typeface="Garet Light"/>
              </a:rPr>
              <a:t>Les écoles hôtelières.</a:t>
            </a:r>
          </a:p>
          <a:p>
            <a:pPr algn="l" marL="421211" indent="-210605" lvl="1">
              <a:lnSpc>
                <a:spcPts val="2341"/>
              </a:lnSpc>
              <a:buFont typeface="Arial"/>
              <a:buChar char="•"/>
            </a:pPr>
            <a:r>
              <a:rPr lang="en-US" sz="1950">
                <a:solidFill>
                  <a:srgbClr val="828282"/>
                </a:solidFill>
                <a:latin typeface="Garet Light"/>
                <a:ea typeface="Garet Light"/>
                <a:cs typeface="Garet Light"/>
                <a:sym typeface="Garet Light"/>
              </a:rPr>
              <a:t>Les salons de la restauration.</a:t>
            </a:r>
          </a:p>
          <a:p>
            <a:pPr algn="l" marL="421211" indent="-210605" lvl="1">
              <a:lnSpc>
                <a:spcPts val="2341"/>
              </a:lnSpc>
              <a:buFont typeface="Arial"/>
              <a:buChar char="•"/>
            </a:pPr>
            <a:r>
              <a:rPr lang="en-US" sz="1950">
                <a:solidFill>
                  <a:srgbClr val="828282"/>
                </a:solidFill>
                <a:latin typeface="Garet Light"/>
                <a:ea typeface="Garet Light"/>
                <a:cs typeface="Garet Light"/>
                <a:sym typeface="Garet Light"/>
              </a:rPr>
              <a:t>Le bouche-à-oreille entre professionnels.</a:t>
            </a:r>
          </a:p>
          <a:p>
            <a:pPr algn="l">
              <a:lnSpc>
                <a:spcPts val="2341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3993653" y="3625323"/>
            <a:ext cx="2795572" cy="314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9071" indent="-224536" lvl="1">
              <a:lnSpc>
                <a:spcPts val="2495"/>
              </a:lnSpc>
              <a:buFont typeface="Arial"/>
              <a:buChar char="•"/>
            </a:pPr>
            <a:r>
              <a:rPr lang="en-US" sz="2079">
                <a:solidFill>
                  <a:srgbClr val="828282"/>
                </a:solidFill>
                <a:latin typeface="Garet Light"/>
                <a:ea typeface="Garet Light"/>
                <a:cs typeface="Garet Light"/>
                <a:sym typeface="Garet Light"/>
              </a:rPr>
              <a:t>Application web</a:t>
            </a:r>
          </a:p>
          <a:p>
            <a:pPr algn="l" marL="449071" indent="-224536" lvl="1">
              <a:lnSpc>
                <a:spcPts val="2495"/>
              </a:lnSpc>
              <a:buFont typeface="Arial"/>
              <a:buChar char="•"/>
            </a:pPr>
            <a:r>
              <a:rPr lang="en-US" sz="2079">
                <a:solidFill>
                  <a:srgbClr val="828282"/>
                </a:solidFill>
                <a:latin typeface="Garet Light"/>
                <a:ea typeface="Garet Light"/>
                <a:cs typeface="Garet Light"/>
                <a:sym typeface="Garet Light"/>
              </a:rPr>
              <a:t>base de données </a:t>
            </a:r>
          </a:p>
          <a:p>
            <a:pPr algn="l" marL="449071" indent="-224536" lvl="1">
              <a:lnSpc>
                <a:spcPts val="2495"/>
              </a:lnSpc>
              <a:buFont typeface="Arial"/>
              <a:buChar char="•"/>
            </a:pPr>
            <a:r>
              <a:rPr lang="en-US" sz="2079">
                <a:solidFill>
                  <a:srgbClr val="828282"/>
                </a:solidFill>
                <a:latin typeface="Garet Light"/>
                <a:ea typeface="Garet Light"/>
                <a:cs typeface="Garet Light"/>
                <a:sym typeface="Garet Light"/>
              </a:rPr>
              <a:t>équipe de dévelepomment</a:t>
            </a:r>
          </a:p>
          <a:p>
            <a:pPr algn="l" marL="449071" indent="-224536" lvl="1">
              <a:lnSpc>
                <a:spcPts val="2495"/>
              </a:lnSpc>
              <a:buFont typeface="Arial"/>
              <a:buChar char="•"/>
            </a:pPr>
            <a:r>
              <a:rPr lang="en-US" sz="2079">
                <a:solidFill>
                  <a:srgbClr val="828282"/>
                </a:solidFill>
                <a:latin typeface="Garet Light"/>
                <a:ea typeface="Garet Light"/>
                <a:cs typeface="Garet Light"/>
                <a:sym typeface="Garet Light"/>
              </a:rPr>
              <a:t>hébergement cloud</a:t>
            </a:r>
          </a:p>
          <a:p>
            <a:pPr algn="l" marL="449071" indent="-224536" lvl="1">
              <a:lnSpc>
                <a:spcPts val="2495"/>
              </a:lnSpc>
              <a:buFont typeface="Arial"/>
              <a:buChar char="•"/>
            </a:pPr>
            <a:r>
              <a:rPr lang="en-US" sz="2079">
                <a:solidFill>
                  <a:srgbClr val="828282"/>
                </a:solidFill>
                <a:latin typeface="Garet Light"/>
                <a:ea typeface="Garet Light"/>
                <a:cs typeface="Garet Light"/>
                <a:sym typeface="Garet Light"/>
              </a:rPr>
              <a:t>outils de stockage d’images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110855" y="1187894"/>
            <a:ext cx="3035713" cy="188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49071" indent="-224536" lvl="1">
              <a:lnSpc>
                <a:spcPts val="2495"/>
              </a:lnSpc>
              <a:buFont typeface="Arial"/>
              <a:buChar char="•"/>
            </a:pPr>
            <a:r>
              <a:rPr lang="en-US" sz="2079">
                <a:solidFill>
                  <a:srgbClr val="828282"/>
                </a:solidFill>
                <a:latin typeface="Garet Light"/>
                <a:ea typeface="Garet Light"/>
                <a:cs typeface="Garet Light"/>
                <a:sym typeface="Garet Light"/>
              </a:rPr>
              <a:t>Support en ligne</a:t>
            </a:r>
          </a:p>
          <a:p>
            <a:pPr algn="just" marL="449071" indent="-224536" lvl="1">
              <a:lnSpc>
                <a:spcPts val="2495"/>
              </a:lnSpc>
              <a:buFont typeface="Arial"/>
              <a:buChar char="•"/>
            </a:pPr>
            <a:r>
              <a:rPr lang="en-US" sz="2079">
                <a:solidFill>
                  <a:srgbClr val="828282"/>
                </a:solidFill>
                <a:latin typeface="Garet Light"/>
                <a:ea typeface="Garet Light"/>
                <a:cs typeface="Garet Light"/>
                <a:sym typeface="Garet Light"/>
              </a:rPr>
              <a:t>Notifications</a:t>
            </a:r>
          </a:p>
          <a:p>
            <a:pPr algn="just" marL="449071" indent="-224536" lvl="1">
              <a:lnSpc>
                <a:spcPts val="2495"/>
              </a:lnSpc>
              <a:buFont typeface="Arial"/>
              <a:buChar char="•"/>
            </a:pPr>
            <a:r>
              <a:rPr lang="en-US" sz="2079">
                <a:solidFill>
                  <a:srgbClr val="828282"/>
                </a:solidFill>
                <a:latin typeface="Garet Light"/>
                <a:ea typeface="Garet Light"/>
                <a:cs typeface="Garet Light"/>
                <a:sym typeface="Garet Light"/>
              </a:rPr>
              <a:t>Messagerie interne</a:t>
            </a:r>
          </a:p>
          <a:p>
            <a:pPr algn="just" marL="449071" indent="-224536" lvl="1">
              <a:lnSpc>
                <a:spcPts val="2495"/>
              </a:lnSpc>
              <a:buFont typeface="Arial"/>
              <a:buChar char="•"/>
            </a:pPr>
            <a:r>
              <a:rPr lang="en-US" sz="2079">
                <a:solidFill>
                  <a:srgbClr val="828282"/>
                </a:solidFill>
                <a:latin typeface="Garet Light"/>
                <a:ea typeface="Garet Light"/>
                <a:cs typeface="Garet Light"/>
                <a:sym typeface="Garet Light"/>
              </a:rPr>
              <a:t>communuaté active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032647" y="863057"/>
            <a:ext cx="2756578" cy="251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48482" indent="-224241" lvl="1">
              <a:lnSpc>
                <a:spcPts val="2492"/>
              </a:lnSpc>
              <a:buFont typeface="Arial"/>
              <a:buChar char="•"/>
            </a:pPr>
            <a:r>
              <a:rPr lang="en-US" sz="2077">
                <a:solidFill>
                  <a:srgbClr val="828282"/>
                </a:solidFill>
                <a:latin typeface="Garet Light"/>
                <a:ea typeface="Garet Light"/>
                <a:cs typeface="Garet Light"/>
                <a:sym typeface="Garet Light"/>
              </a:rPr>
              <a:t>Développement de la plateforme </a:t>
            </a:r>
          </a:p>
          <a:p>
            <a:pPr algn="l" marL="448482" indent="-224241" lvl="1">
              <a:lnSpc>
                <a:spcPts val="2492"/>
              </a:lnSpc>
              <a:buFont typeface="Arial"/>
              <a:buChar char="•"/>
            </a:pPr>
            <a:r>
              <a:rPr lang="en-US" sz="2077">
                <a:solidFill>
                  <a:srgbClr val="828282"/>
                </a:solidFill>
                <a:latin typeface="Garet Light"/>
                <a:ea typeface="Garet Light"/>
                <a:cs typeface="Garet Light"/>
                <a:sym typeface="Garet Light"/>
              </a:rPr>
              <a:t>gestion des utilisateurs </a:t>
            </a:r>
          </a:p>
          <a:p>
            <a:pPr algn="just" marL="448482" indent="-224241" lvl="1">
              <a:lnSpc>
                <a:spcPts val="2492"/>
              </a:lnSpc>
              <a:buFont typeface="Arial"/>
              <a:buChar char="•"/>
            </a:pPr>
            <a:r>
              <a:rPr lang="en-US" sz="2077">
                <a:solidFill>
                  <a:srgbClr val="828282"/>
                </a:solidFill>
                <a:latin typeface="Garet Light"/>
                <a:ea typeface="Garet Light"/>
                <a:cs typeface="Garet Light"/>
                <a:sym typeface="Garet Light"/>
              </a:rPr>
              <a:t>marketing digital </a:t>
            </a:r>
          </a:p>
          <a:p>
            <a:pPr algn="just" marL="448482" indent="-224241" lvl="1">
              <a:lnSpc>
                <a:spcPts val="2492"/>
              </a:lnSpc>
              <a:buFont typeface="Arial"/>
              <a:buChar char="•"/>
            </a:pPr>
            <a:r>
              <a:rPr lang="en-US" sz="2077">
                <a:solidFill>
                  <a:srgbClr val="828282"/>
                </a:solidFill>
                <a:latin typeface="Garet Light"/>
                <a:ea typeface="Garet Light"/>
                <a:cs typeface="Garet Light"/>
                <a:sym typeface="Garet Light"/>
              </a:rPr>
              <a:t>maintenance technique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30847" y="7225844"/>
            <a:ext cx="5176226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9071" indent="-224536" lvl="1">
              <a:lnSpc>
                <a:spcPts val="2495"/>
              </a:lnSpc>
              <a:buFont typeface="Arial"/>
              <a:buChar char="•"/>
            </a:pPr>
            <a:r>
              <a:rPr lang="en-US" sz="2079">
                <a:solidFill>
                  <a:srgbClr val="828282"/>
                </a:solidFill>
                <a:latin typeface="Garet Light"/>
                <a:ea typeface="Garet Light"/>
                <a:cs typeface="Garet Light"/>
                <a:sym typeface="Garet Light"/>
              </a:rPr>
              <a:t>Hébergement</a:t>
            </a:r>
          </a:p>
          <a:p>
            <a:pPr algn="l" marL="449071" indent="-224536" lvl="1">
              <a:lnSpc>
                <a:spcPts val="2495"/>
              </a:lnSpc>
              <a:buFont typeface="Arial"/>
              <a:buChar char="•"/>
            </a:pPr>
            <a:r>
              <a:rPr lang="en-US" sz="2079">
                <a:solidFill>
                  <a:srgbClr val="828282"/>
                </a:solidFill>
                <a:latin typeface="Garet Light"/>
                <a:ea typeface="Garet Light"/>
                <a:cs typeface="Garet Light"/>
                <a:sym typeface="Garet Light"/>
              </a:rPr>
              <a:t>Nom de domaine</a:t>
            </a:r>
          </a:p>
          <a:p>
            <a:pPr algn="l" marL="449071" indent="-224536" lvl="1">
              <a:lnSpc>
                <a:spcPts val="2495"/>
              </a:lnSpc>
              <a:buFont typeface="Arial"/>
              <a:buChar char="•"/>
            </a:pPr>
            <a:r>
              <a:rPr lang="en-US" sz="2079">
                <a:solidFill>
                  <a:srgbClr val="828282"/>
                </a:solidFill>
                <a:latin typeface="Garet Light"/>
                <a:ea typeface="Garet Light"/>
                <a:cs typeface="Garet Light"/>
                <a:sym typeface="Garet Light"/>
              </a:rPr>
              <a:t>Marketing digital</a:t>
            </a:r>
          </a:p>
          <a:p>
            <a:pPr algn="l" marL="449071" indent="-224536" lvl="1">
              <a:lnSpc>
                <a:spcPts val="2495"/>
              </a:lnSpc>
              <a:buFont typeface="Arial"/>
              <a:buChar char="•"/>
            </a:pPr>
            <a:r>
              <a:rPr lang="en-US" sz="2079">
                <a:solidFill>
                  <a:srgbClr val="828282"/>
                </a:solidFill>
                <a:latin typeface="Garet Light"/>
                <a:ea typeface="Garet Light"/>
                <a:cs typeface="Garet Light"/>
                <a:sym typeface="Garet Light"/>
              </a:rPr>
              <a:t>Maitenanace </a:t>
            </a:r>
          </a:p>
          <a:p>
            <a:pPr algn="l" marL="449071" indent="-224536" lvl="1">
              <a:lnSpc>
                <a:spcPts val="2495"/>
              </a:lnSpc>
              <a:buFont typeface="Arial"/>
              <a:buChar char="•"/>
            </a:pPr>
            <a:r>
              <a:rPr lang="en-US" sz="2079">
                <a:solidFill>
                  <a:srgbClr val="828282"/>
                </a:solidFill>
                <a:latin typeface="Garet Light"/>
                <a:ea typeface="Garet Light"/>
                <a:cs typeface="Garet Light"/>
                <a:sym typeface="Garet Light"/>
              </a:rPr>
              <a:t>Stockage des données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527748" y="7276410"/>
            <a:ext cx="5176226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49071" indent="-224536" lvl="1">
              <a:lnSpc>
                <a:spcPts val="2495"/>
              </a:lnSpc>
              <a:buFont typeface="Arial"/>
              <a:buChar char="•"/>
            </a:pPr>
            <a:r>
              <a:rPr lang="en-US" sz="2079">
                <a:solidFill>
                  <a:srgbClr val="828282"/>
                </a:solidFill>
                <a:latin typeface="Garet Light"/>
                <a:ea typeface="Garet Light"/>
                <a:cs typeface="Garet Light"/>
                <a:sym typeface="Garet Light"/>
              </a:rPr>
              <a:t>Abonnements Premium</a:t>
            </a:r>
          </a:p>
          <a:p>
            <a:pPr algn="just" marL="449071" indent="-224536" lvl="1">
              <a:lnSpc>
                <a:spcPts val="2495"/>
              </a:lnSpc>
              <a:buFont typeface="Arial"/>
              <a:buChar char="•"/>
            </a:pPr>
            <a:r>
              <a:rPr lang="en-US" sz="2079">
                <a:solidFill>
                  <a:srgbClr val="828282"/>
                </a:solidFill>
                <a:latin typeface="Garet Light"/>
                <a:ea typeface="Garet Light"/>
                <a:cs typeface="Garet Light"/>
                <a:sym typeface="Garet Light"/>
              </a:rPr>
              <a:t>abonnements recruteurs</a:t>
            </a:r>
          </a:p>
          <a:p>
            <a:pPr algn="just" marL="449071" indent="-224536" lvl="1">
              <a:lnSpc>
                <a:spcPts val="2495"/>
              </a:lnSpc>
              <a:buFont typeface="Arial"/>
              <a:buChar char="•"/>
            </a:pPr>
            <a:r>
              <a:rPr lang="en-US" sz="2079">
                <a:solidFill>
                  <a:srgbClr val="828282"/>
                </a:solidFill>
                <a:latin typeface="Garet Light"/>
                <a:ea typeface="Garet Light"/>
                <a:cs typeface="Garet Light"/>
                <a:sym typeface="Garet Light"/>
              </a:rPr>
              <a:t> publicité</a:t>
            </a:r>
          </a:p>
          <a:p>
            <a:pPr algn="just" marL="449071" indent="-224536" lvl="1">
              <a:lnSpc>
                <a:spcPts val="2495"/>
              </a:lnSpc>
              <a:buFont typeface="Arial"/>
              <a:buChar char="•"/>
            </a:pPr>
            <a:r>
              <a:rPr lang="en-US" sz="2079">
                <a:solidFill>
                  <a:srgbClr val="828282"/>
                </a:solidFill>
                <a:latin typeface="Garet Light"/>
                <a:ea typeface="Garet Light"/>
                <a:cs typeface="Garet Light"/>
                <a:sym typeface="Garet Light"/>
              </a:rPr>
              <a:t>publications sponsorisées</a:t>
            </a:r>
          </a:p>
          <a:p>
            <a:pPr algn="just">
              <a:lnSpc>
                <a:spcPts val="2495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7856560">
            <a:off x="-1268904" y="-1970543"/>
            <a:ext cx="1867089" cy="3941086"/>
          </a:xfrm>
          <a:custGeom>
            <a:avLst/>
            <a:gdLst/>
            <a:ahLst/>
            <a:cxnLst/>
            <a:rect r="r" b="b" t="t" l="l"/>
            <a:pathLst>
              <a:path h="3941086" w="1867089">
                <a:moveTo>
                  <a:pt x="1867089" y="0"/>
                </a:moveTo>
                <a:lnTo>
                  <a:pt x="0" y="0"/>
                </a:lnTo>
                <a:lnTo>
                  <a:pt x="0" y="3941086"/>
                </a:lnTo>
                <a:lnTo>
                  <a:pt x="1867089" y="3941086"/>
                </a:lnTo>
                <a:lnTo>
                  <a:pt x="1867089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441533">
            <a:off x="17273118" y="8279082"/>
            <a:ext cx="2921521" cy="4015836"/>
          </a:xfrm>
          <a:custGeom>
            <a:avLst/>
            <a:gdLst/>
            <a:ahLst/>
            <a:cxnLst/>
            <a:rect r="r" b="b" t="t" l="l"/>
            <a:pathLst>
              <a:path h="4015836" w="2921521">
                <a:moveTo>
                  <a:pt x="0" y="0"/>
                </a:moveTo>
                <a:lnTo>
                  <a:pt x="2921521" y="0"/>
                </a:lnTo>
                <a:lnTo>
                  <a:pt x="2921521" y="4015836"/>
                </a:lnTo>
                <a:lnTo>
                  <a:pt x="0" y="4015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59840" y="1373917"/>
            <a:ext cx="16699460" cy="8751384"/>
          </a:xfrm>
          <a:custGeom>
            <a:avLst/>
            <a:gdLst/>
            <a:ahLst/>
            <a:cxnLst/>
            <a:rect r="r" b="b" t="t" l="l"/>
            <a:pathLst>
              <a:path h="8751384" w="16699460">
                <a:moveTo>
                  <a:pt x="0" y="0"/>
                </a:moveTo>
                <a:lnTo>
                  <a:pt x="16699460" y="0"/>
                </a:lnTo>
                <a:lnTo>
                  <a:pt x="16699460" y="8751384"/>
                </a:lnTo>
                <a:lnTo>
                  <a:pt x="0" y="87513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0799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472821"/>
            <a:ext cx="7905316" cy="1178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6"/>
              </a:lnSpc>
            </a:pPr>
            <a:r>
              <a:rPr lang="en-US" sz="4600" spc="-234" u="sng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Modèle financier</a:t>
            </a:r>
          </a:p>
          <a:p>
            <a:pPr algn="ctr">
              <a:lnSpc>
                <a:spcPts val="4416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6330691" y="9134475"/>
            <a:ext cx="502940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  <a:spcBef>
                <a:spcPct val="0"/>
              </a:spcBef>
            </a:pPr>
            <a:r>
              <a:rPr lang="en-US" sz="4600" spc="-234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915994">
            <a:off x="-1072051" y="-668250"/>
            <a:ext cx="1607860" cy="3393900"/>
          </a:xfrm>
          <a:custGeom>
            <a:avLst/>
            <a:gdLst/>
            <a:ahLst/>
            <a:cxnLst/>
            <a:rect r="r" b="b" t="t" l="l"/>
            <a:pathLst>
              <a:path h="3393900" w="1607860">
                <a:moveTo>
                  <a:pt x="1607860" y="0"/>
                </a:moveTo>
                <a:lnTo>
                  <a:pt x="0" y="0"/>
                </a:lnTo>
                <a:lnTo>
                  <a:pt x="0" y="3393900"/>
                </a:lnTo>
                <a:lnTo>
                  <a:pt x="1607860" y="3393900"/>
                </a:lnTo>
                <a:lnTo>
                  <a:pt x="160786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481743">
            <a:off x="17979687" y="9378937"/>
            <a:ext cx="1822754" cy="3847503"/>
          </a:xfrm>
          <a:custGeom>
            <a:avLst/>
            <a:gdLst/>
            <a:ahLst/>
            <a:cxnLst/>
            <a:rect r="r" b="b" t="t" l="l"/>
            <a:pathLst>
              <a:path h="3847503" w="1822754">
                <a:moveTo>
                  <a:pt x="1822754" y="0"/>
                </a:moveTo>
                <a:lnTo>
                  <a:pt x="0" y="0"/>
                </a:lnTo>
                <a:lnTo>
                  <a:pt x="0" y="3847503"/>
                </a:lnTo>
                <a:lnTo>
                  <a:pt x="1822754" y="3847503"/>
                </a:lnTo>
                <a:lnTo>
                  <a:pt x="1822754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14119" y="1375029"/>
            <a:ext cx="17659761" cy="8499414"/>
          </a:xfrm>
          <a:custGeom>
            <a:avLst/>
            <a:gdLst/>
            <a:ahLst/>
            <a:cxnLst/>
            <a:rect r="r" b="b" t="t" l="l"/>
            <a:pathLst>
              <a:path h="8499414" w="17659761">
                <a:moveTo>
                  <a:pt x="0" y="0"/>
                </a:moveTo>
                <a:lnTo>
                  <a:pt x="17659762" y="0"/>
                </a:lnTo>
                <a:lnTo>
                  <a:pt x="17659762" y="8499414"/>
                </a:lnTo>
                <a:lnTo>
                  <a:pt x="0" y="84994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786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14119" y="402717"/>
            <a:ext cx="7613452" cy="62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5"/>
              </a:lnSpc>
            </a:pPr>
            <a:r>
              <a:rPr lang="en-US" sz="4599" spc="-234" u="sng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Analyse SWOT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734730" y="9404225"/>
            <a:ext cx="524570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spc="-234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915994">
            <a:off x="-803930" y="-954485"/>
            <a:ext cx="1607860" cy="3393900"/>
          </a:xfrm>
          <a:custGeom>
            <a:avLst/>
            <a:gdLst/>
            <a:ahLst/>
            <a:cxnLst/>
            <a:rect r="r" b="b" t="t" l="l"/>
            <a:pathLst>
              <a:path h="3393900" w="1607860">
                <a:moveTo>
                  <a:pt x="1607860" y="0"/>
                </a:moveTo>
                <a:lnTo>
                  <a:pt x="0" y="0"/>
                </a:lnTo>
                <a:lnTo>
                  <a:pt x="0" y="3393900"/>
                </a:lnTo>
                <a:lnTo>
                  <a:pt x="1607860" y="3393900"/>
                </a:lnTo>
                <a:lnTo>
                  <a:pt x="160786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481743">
            <a:off x="17376623" y="8753777"/>
            <a:ext cx="1822754" cy="3847503"/>
          </a:xfrm>
          <a:custGeom>
            <a:avLst/>
            <a:gdLst/>
            <a:ahLst/>
            <a:cxnLst/>
            <a:rect r="r" b="b" t="t" l="l"/>
            <a:pathLst>
              <a:path h="3847503" w="1822754">
                <a:moveTo>
                  <a:pt x="1822754" y="0"/>
                </a:moveTo>
                <a:lnTo>
                  <a:pt x="0" y="0"/>
                </a:lnTo>
                <a:lnTo>
                  <a:pt x="0" y="3847503"/>
                </a:lnTo>
                <a:lnTo>
                  <a:pt x="1822754" y="3847503"/>
                </a:lnTo>
                <a:lnTo>
                  <a:pt x="1822754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30031">
            <a:off x="-1928519" y="8895869"/>
            <a:ext cx="3857038" cy="5301771"/>
          </a:xfrm>
          <a:custGeom>
            <a:avLst/>
            <a:gdLst/>
            <a:ahLst/>
            <a:cxnLst/>
            <a:rect r="r" b="b" t="t" l="l"/>
            <a:pathLst>
              <a:path h="5301771" w="3857038">
                <a:moveTo>
                  <a:pt x="0" y="0"/>
                </a:moveTo>
                <a:lnTo>
                  <a:pt x="3857038" y="0"/>
                </a:lnTo>
                <a:lnTo>
                  <a:pt x="3857038" y="5301771"/>
                </a:lnTo>
                <a:lnTo>
                  <a:pt x="0" y="53017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984410" y="1615792"/>
            <a:ext cx="5658292" cy="8413634"/>
          </a:xfrm>
          <a:custGeom>
            <a:avLst/>
            <a:gdLst/>
            <a:ahLst/>
            <a:cxnLst/>
            <a:rect r="r" b="b" t="t" l="l"/>
            <a:pathLst>
              <a:path h="8413634" w="5658292">
                <a:moveTo>
                  <a:pt x="0" y="0"/>
                </a:moveTo>
                <a:lnTo>
                  <a:pt x="5658292" y="0"/>
                </a:lnTo>
                <a:lnTo>
                  <a:pt x="5658292" y="8413634"/>
                </a:lnTo>
                <a:lnTo>
                  <a:pt x="0" y="84136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1579836" y="116482"/>
            <a:ext cx="13994290" cy="62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6"/>
              </a:lnSpc>
            </a:pPr>
            <a:r>
              <a:rPr lang="en-US" sz="4600" spc="-234" u="sng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STRUCTURE DE L'APPLICATION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6401" y="2918958"/>
            <a:ext cx="5329074" cy="1412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b="true" sz="4000" u="sng">
                <a:solidFill>
                  <a:srgbClr val="37442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Diagramme de cas d'utilisation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393902" y="9212816"/>
            <a:ext cx="524669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  <a:spcBef>
                <a:spcPct val="0"/>
              </a:spcBef>
            </a:pPr>
            <a:r>
              <a:rPr lang="en-US" sz="4600" spc="-234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888319">
            <a:off x="-1307541" y="-1917461"/>
            <a:ext cx="1607860" cy="3393900"/>
          </a:xfrm>
          <a:custGeom>
            <a:avLst/>
            <a:gdLst/>
            <a:ahLst/>
            <a:cxnLst/>
            <a:rect r="r" b="b" t="t" l="l"/>
            <a:pathLst>
              <a:path h="3393900" w="1607860">
                <a:moveTo>
                  <a:pt x="1607860" y="0"/>
                </a:moveTo>
                <a:lnTo>
                  <a:pt x="0" y="0"/>
                </a:lnTo>
                <a:lnTo>
                  <a:pt x="0" y="3393900"/>
                </a:lnTo>
                <a:lnTo>
                  <a:pt x="1607860" y="3393900"/>
                </a:lnTo>
                <a:lnTo>
                  <a:pt x="160786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298658">
            <a:off x="-1214067" y="8618179"/>
            <a:ext cx="2428135" cy="3337643"/>
          </a:xfrm>
          <a:custGeom>
            <a:avLst/>
            <a:gdLst/>
            <a:ahLst/>
            <a:cxnLst/>
            <a:rect r="r" b="b" t="t" l="l"/>
            <a:pathLst>
              <a:path h="3337643" w="2428135">
                <a:moveTo>
                  <a:pt x="2428134" y="0"/>
                </a:moveTo>
                <a:lnTo>
                  <a:pt x="0" y="0"/>
                </a:lnTo>
                <a:lnTo>
                  <a:pt x="0" y="3337642"/>
                </a:lnTo>
                <a:lnTo>
                  <a:pt x="2428134" y="3337642"/>
                </a:lnTo>
                <a:lnTo>
                  <a:pt x="242813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08062" y="1916524"/>
            <a:ext cx="12685165" cy="9633204"/>
          </a:xfrm>
          <a:custGeom>
            <a:avLst/>
            <a:gdLst/>
            <a:ahLst/>
            <a:cxnLst/>
            <a:rect r="r" b="b" t="t" l="l"/>
            <a:pathLst>
              <a:path h="9633204" w="12685165">
                <a:moveTo>
                  <a:pt x="0" y="0"/>
                </a:moveTo>
                <a:lnTo>
                  <a:pt x="12685165" y="0"/>
                </a:lnTo>
                <a:lnTo>
                  <a:pt x="12685165" y="9633204"/>
                </a:lnTo>
                <a:lnTo>
                  <a:pt x="0" y="96332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88636" y="2644935"/>
            <a:ext cx="3306098" cy="162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b="true" sz="4599" u="sng">
                <a:solidFill>
                  <a:srgbClr val="37442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Diagramme de classe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134475"/>
            <a:ext cx="524669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  <a:spcBef>
                <a:spcPct val="0"/>
              </a:spcBef>
            </a:pPr>
            <a:r>
              <a:rPr lang="en-US" sz="4600" spc="-234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888319">
            <a:off x="-1307541" y="-1917461"/>
            <a:ext cx="1607860" cy="3393900"/>
          </a:xfrm>
          <a:custGeom>
            <a:avLst/>
            <a:gdLst/>
            <a:ahLst/>
            <a:cxnLst/>
            <a:rect r="r" b="b" t="t" l="l"/>
            <a:pathLst>
              <a:path h="3393900" w="1607860">
                <a:moveTo>
                  <a:pt x="1607860" y="0"/>
                </a:moveTo>
                <a:lnTo>
                  <a:pt x="0" y="0"/>
                </a:lnTo>
                <a:lnTo>
                  <a:pt x="0" y="3393900"/>
                </a:lnTo>
                <a:lnTo>
                  <a:pt x="1607860" y="3393900"/>
                </a:lnTo>
                <a:lnTo>
                  <a:pt x="160786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298658">
            <a:off x="-1214067" y="8618179"/>
            <a:ext cx="2428135" cy="3337643"/>
          </a:xfrm>
          <a:custGeom>
            <a:avLst/>
            <a:gdLst/>
            <a:ahLst/>
            <a:cxnLst/>
            <a:rect r="r" b="b" t="t" l="l"/>
            <a:pathLst>
              <a:path h="3337643" w="2428135">
                <a:moveTo>
                  <a:pt x="2428134" y="0"/>
                </a:moveTo>
                <a:lnTo>
                  <a:pt x="0" y="0"/>
                </a:lnTo>
                <a:lnTo>
                  <a:pt x="0" y="3337642"/>
                </a:lnTo>
                <a:lnTo>
                  <a:pt x="2428134" y="3337642"/>
                </a:lnTo>
                <a:lnTo>
                  <a:pt x="242813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16693" y="619147"/>
            <a:ext cx="5929794" cy="9331938"/>
          </a:xfrm>
          <a:custGeom>
            <a:avLst/>
            <a:gdLst/>
            <a:ahLst/>
            <a:cxnLst/>
            <a:rect r="r" b="b" t="t" l="l"/>
            <a:pathLst>
              <a:path h="9331938" w="5929794">
                <a:moveTo>
                  <a:pt x="0" y="0"/>
                </a:moveTo>
                <a:lnTo>
                  <a:pt x="5929794" y="0"/>
                </a:lnTo>
                <a:lnTo>
                  <a:pt x="5929794" y="9331938"/>
                </a:lnTo>
                <a:lnTo>
                  <a:pt x="0" y="93319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88636" y="2644935"/>
            <a:ext cx="3306098" cy="162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b="true" sz="4599" u="sng">
                <a:solidFill>
                  <a:srgbClr val="37442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Diagramme d’activité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134475"/>
            <a:ext cx="524669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  <a:spcBef>
                <a:spcPct val="0"/>
              </a:spcBef>
            </a:pPr>
            <a:r>
              <a:rPr lang="en-US" sz="4600" spc="-234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915994">
            <a:off x="-1096143" y="-1021835"/>
            <a:ext cx="1607860" cy="3393900"/>
          </a:xfrm>
          <a:custGeom>
            <a:avLst/>
            <a:gdLst/>
            <a:ahLst/>
            <a:cxnLst/>
            <a:rect r="r" b="b" t="t" l="l"/>
            <a:pathLst>
              <a:path h="3393900" w="1607860">
                <a:moveTo>
                  <a:pt x="1607860" y="0"/>
                </a:moveTo>
                <a:lnTo>
                  <a:pt x="0" y="0"/>
                </a:lnTo>
                <a:lnTo>
                  <a:pt x="0" y="3393900"/>
                </a:lnTo>
                <a:lnTo>
                  <a:pt x="1607860" y="3393900"/>
                </a:lnTo>
                <a:lnTo>
                  <a:pt x="160786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481743">
            <a:off x="-911377" y="8625151"/>
            <a:ext cx="1822754" cy="3847503"/>
          </a:xfrm>
          <a:custGeom>
            <a:avLst/>
            <a:gdLst/>
            <a:ahLst/>
            <a:cxnLst/>
            <a:rect r="r" b="b" t="t" l="l"/>
            <a:pathLst>
              <a:path h="3847503" w="1822754">
                <a:moveTo>
                  <a:pt x="1822754" y="0"/>
                </a:moveTo>
                <a:lnTo>
                  <a:pt x="0" y="0"/>
                </a:lnTo>
                <a:lnTo>
                  <a:pt x="0" y="3847503"/>
                </a:lnTo>
                <a:lnTo>
                  <a:pt x="1822754" y="3847503"/>
                </a:lnTo>
                <a:lnTo>
                  <a:pt x="1822754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1408043" y="741790"/>
            <a:ext cx="8197986" cy="62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6"/>
              </a:lnSpc>
            </a:pPr>
            <a:r>
              <a:rPr lang="en-US" sz="4600" spc="-234" u="sng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489592" y="9134475"/>
            <a:ext cx="524669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  <a:spcBef>
                <a:spcPct val="0"/>
              </a:spcBef>
            </a:pPr>
            <a:r>
              <a:rPr lang="en-US" sz="4600" spc="-234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7480" y="3398774"/>
            <a:ext cx="17533040" cy="1744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33"/>
              </a:lnSpc>
              <a:spcBef>
                <a:spcPct val="0"/>
              </a:spcBef>
            </a:pPr>
            <a:r>
              <a:rPr lang="en-US" sz="3309" spc="-168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ChefLink est une plateforme qui aide les chefs marocains à développer leur visibilité, leur réseau et leur carrière.</a:t>
            </a:r>
          </a:p>
          <a:p>
            <a:pPr algn="just">
              <a:lnSpc>
                <a:spcPts val="4633"/>
              </a:lnSpc>
              <a:spcBef>
                <a:spcPct val="0"/>
              </a:spcBef>
            </a:pPr>
            <a:r>
              <a:rPr lang="en-US" sz="3309" spc="-168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Avec un modèle économique rentable et un fort potentiel de croissance, notre objectif est de devenir la référence des chefs au Maroc, puis dans la région.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915994">
            <a:off x="-1355066" y="-668250"/>
            <a:ext cx="1607860" cy="3393900"/>
          </a:xfrm>
          <a:custGeom>
            <a:avLst/>
            <a:gdLst/>
            <a:ahLst/>
            <a:cxnLst/>
            <a:rect r="r" b="b" t="t" l="l"/>
            <a:pathLst>
              <a:path h="3393900" w="1607860">
                <a:moveTo>
                  <a:pt x="1607860" y="0"/>
                </a:moveTo>
                <a:lnTo>
                  <a:pt x="0" y="0"/>
                </a:lnTo>
                <a:lnTo>
                  <a:pt x="0" y="3393900"/>
                </a:lnTo>
                <a:lnTo>
                  <a:pt x="1607860" y="3393900"/>
                </a:lnTo>
                <a:lnTo>
                  <a:pt x="160786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080516"/>
            <a:ext cx="16725175" cy="1062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7999" spc="-407">
                <a:solidFill>
                  <a:srgbClr val="3744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Merci pour votre attention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757303" y="7132374"/>
            <a:ext cx="1192130" cy="1192130"/>
          </a:xfrm>
          <a:custGeom>
            <a:avLst/>
            <a:gdLst/>
            <a:ahLst/>
            <a:cxnLst/>
            <a:rect r="r" b="b" t="t" l="l"/>
            <a:pathLst>
              <a:path h="1192130" w="1192130">
                <a:moveTo>
                  <a:pt x="0" y="0"/>
                </a:moveTo>
                <a:lnTo>
                  <a:pt x="1192130" y="0"/>
                </a:lnTo>
                <a:lnTo>
                  <a:pt x="1192130" y="1192130"/>
                </a:lnTo>
                <a:lnTo>
                  <a:pt x="0" y="11921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79231" y="5301038"/>
            <a:ext cx="844561" cy="844561"/>
          </a:xfrm>
          <a:custGeom>
            <a:avLst/>
            <a:gdLst/>
            <a:ahLst/>
            <a:cxnLst/>
            <a:rect r="r" b="b" t="t" l="l"/>
            <a:pathLst>
              <a:path h="844561" w="844561">
                <a:moveTo>
                  <a:pt x="0" y="0"/>
                </a:moveTo>
                <a:lnTo>
                  <a:pt x="844561" y="0"/>
                </a:lnTo>
                <a:lnTo>
                  <a:pt x="844561" y="844561"/>
                </a:lnTo>
                <a:lnTo>
                  <a:pt x="0" y="8445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DAHNCLe19X4</dc:identifier>
  <dcterms:modified xsi:type="dcterms:W3CDTF">2011-08-01T06:04:30Z</dcterms:modified>
  <cp:revision>1</cp:revision>
  <dc:title>Beige Green Watercolor Illustrative Food Recipe Presentation</dc:title>
</cp:coreProperties>
</file>